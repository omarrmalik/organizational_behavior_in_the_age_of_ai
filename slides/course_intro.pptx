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Weight</c:v>
                </c:pt>
              </c:strCache>
            </c:strRef>
          </c:tx>
          <c:dPt>
            <c:idx val="0"/>
            <c:spPr>
              <a:solidFill>
                <a:srgbClr val="D9694A"/>
              </a:solidFill>
              <a:ln>
                <a:solidFill>
                  <a:srgbClr val="FFFFFF"/>
                </a:solidFill>
              </a:ln>
            </c:spPr>
          </c:dPt>
          <c:dPt>
            <c:idx val="1"/>
            <c:spPr>
              <a:solidFill>
                <a:srgbClr val="1F2A2E"/>
              </a:solidFill>
              <a:ln>
                <a:solidFill>
                  <a:srgbClr val="FFFFFF"/>
                </a:solidFill>
              </a:ln>
            </c:spPr>
          </c:dPt>
          <c:dPt>
            <c:idx val="2"/>
            <c:spPr>
              <a:solidFill>
                <a:srgbClr val="2E8B7A"/>
              </a:solidFill>
              <a:ln>
                <a:solidFill>
                  <a:srgbClr val="FFFFFF"/>
                </a:solidFill>
              </a:ln>
            </c:spPr>
          </c:dPt>
          <c:dPt>
            <c:idx val="3"/>
            <c:spPr>
              <a:solidFill>
                <a:srgbClr val="5B6B70"/>
              </a:solidFill>
              <a:ln>
                <a:solidFill>
                  <a:srgbClr val="FFFFFF"/>
                </a:solidFill>
              </a:ln>
            </c:spPr>
          </c:dPt>
          <c:cat>
            <c:strRef>
              <c:f>Sheet1!$A$2:$A$5</c:f>
              <c:strCache>
                <c:ptCount val="4"/>
                <c:pt idx="0">
                  <c:v>Human–AI Work Study</c:v>
                </c:pt>
                <c:pt idx="1">
                  <c:v>Examinations</c:v>
                </c:pt>
                <c:pt idx="2">
                  <c:v>Reading reflections</c:v>
                </c:pt>
                <c:pt idx="3">
                  <c:v>Participation</c:v>
                </c:pt>
              </c:strCache>
            </c:strRef>
          </c:cat>
          <c:val>
            <c:numRef>
              <c:f>Sheet1!$B$2:$B$5</c:f>
              <c:numCache>
                <c:formatCode>General</c:formatCode>
                <c:ptCount val="4"/>
                <c:pt idx="0">
                  <c:v>0.4</c:v>
                </c:pt>
                <c:pt idx="1">
                  <c:v>0.3</c:v>
                </c:pt>
                <c:pt idx="2">
                  <c:v>0.2</c:v>
                </c:pt>
                <c:pt idx="3">
                  <c:v>0.1</c:v>
                </c:pt>
              </c:numCache>
            </c:numRef>
          </c:val>
        </c:ser>
        <c:dLbls>
          <c:numFmt formatCode="0%" sourceLinked="0"/>
          <c:txPr>
            <a:bodyPr/>
            <a:lstStyle/>
            <a:p>
              <a:pPr>
                <a:defRPr sz="1600" b="1">
                  <a:solidFill>
                    <a:srgbClr val="FFFFFF"/>
                  </a:solidFill>
                </a:defRPr>
              </a:pPr>
            </a:p>
          </c:txPr>
          <c:showLegendKey val="0"/>
          <c:showVal val="1"/>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MGMT-205. This term we study organizational behavior in a setting where people increasingly work alongside AI. The two overlapping circles that appear throughout the deck represent the course's core idea: humans and AI knowing and deciding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OB theories were built for workplaces where only people held knowledge and only people made decisions. Walk through the four vignettes: in each, knowledge or a decision is now shared between a person and an AI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course returns to this question. Traditional OB asks what motivates people, how groups decide, what makes leaders effective. We keep those questions and add a second one to every topic: what does this theory assume about who knows and who decides?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everything OB studies depends on knowing and deciding. AI now participates in both. The JKD Framework in Part IV is built on these two processes plus their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course about how AI works and requires no programming. Each week from Week 2 places three sources side by side. The goal is not to prove classic theory wrong; often it holds up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week of the course examines one row of this table in depth. Ask students which row surprises them most.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commitments shape how every week runs: we learn the foundation first, look for the assumptions, rely on evidence, write to sharpen thinking, and keep people at the center.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1 introduces the course. From Week 2 on, every week follows this three-part cycle.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experiences carry most of the learning: the weekly reading reflections with their OB Theory Updates, the team Human–AI Work Study, and seven HBS case discussions.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second point: AI is a partner to question, not an authority to obey. Students' own reactions to AI are themselves data about organizational behavior.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MGMT-205, 4 credits, prerequisite MGMT-104. Meets Monday and Thursday, 10:15 to 12:20, in AB 3336. The catalog title remains Organizational Behavior; the AI theme is the course subtitle.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outcomes map to Kettering's central outcomes: Knowledge (CLO 1, 3), Reasoning (CLO 2, 3), Ethics (CLO 4, 5), and Communication and Teamwork (CLO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is taught in this level-based order rather than chapter order. Each level adds complexity to the question of how humans and AI know and decide together.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percent of the grade now comes from work that develops over time: the reflections and the Work Study. Exams remain, in person and without AI, to ensure everyone masters the core concepts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pairing sets a foundational OB study against recent evidence on AI at work, mostly from the Journal of Organizational Behavior, Academy of Management Journal, Administrative Science Quarterly, Journal of Management Studies, and Personnel Psychology.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Undergraduates are not expected to master every methodological detail. They are expected to find the central argument, the key evidence, and the underlying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questions in three clusters. Every reading, reflection, case, and project milestone maps to one or more of them. Students should be able to ask all seven about any human–AI work setting.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reference. In the Work Study, teams apply all seven questions to their chosen organization, one level at a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Weeks 1 and 10 address all seven questions: Week 1 as an introduction, Week 10 as the synthesis. In between, each week foregrounds one to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weekly reflection closes with an OB Theory Update. The strong example names the original assumption, cites evidence, proposes a specific change, and explains why it fits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reading the seven questions aloud. These are the practical core of organizational behavior in the age of AI, and students will use them in every week of the course.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731520" y="1097280"/>
            <a:ext cx="6400800" cy="365760"/>
          </a:xfrm>
          <a:prstGeom prst="rect">
            <a:avLst/>
          </a:prstGeom>
          <a:noFill/>
        </p:spPr>
        <p:txBody>
          <a:bodyPr wrap="square" anchor="t" lIns="0" rIns="0" tIns="0" bIns="0">
            <a:spAutoFit/>
          </a:bodyPr>
          <a:lstStyle/>
          <a:p>
            <a:pPr algn="l">
              <a:spcAft>
                <a:spcPts val="0"/>
              </a:spcAft>
            </a:pPr>
            <a:r>
              <a:rPr sz="1400" b="1" i="0">
                <a:solidFill>
                  <a:srgbClr val="A8D5CB"/>
                </a:solidFill>
                <a:latin typeface="Calibri"/>
              </a:rPr>
              <a:t>MGMT-205  ·  FALL 2026</a:t>
            </a:r>
          </a:p>
        </p:txBody>
      </p:sp>
      <p:sp>
        <p:nvSpPr>
          <p:cNvPr id="3" name="TextBox 2"/>
          <p:cNvSpPr txBox="1"/>
          <p:nvPr/>
        </p:nvSpPr>
        <p:spPr>
          <a:xfrm>
            <a:off x="731520" y="1600200"/>
            <a:ext cx="6766560" cy="2377440"/>
          </a:xfrm>
          <a:prstGeom prst="rect">
            <a:avLst/>
          </a:prstGeom>
          <a:noFill/>
        </p:spPr>
        <p:txBody>
          <a:bodyPr wrap="square" anchor="t" lIns="0" rIns="0" tIns="0" bIns="0">
            <a:spAutoFit/>
          </a:bodyPr>
          <a:lstStyle/>
          <a:p>
            <a:pPr algn="l">
              <a:spcAft>
                <a:spcPts val="0"/>
              </a:spcAft>
            </a:pPr>
            <a:r>
              <a:rPr sz="4400" b="1" i="0">
                <a:solidFill>
                  <a:srgbClr val="FFFFFF"/>
                </a:solidFill>
                <a:latin typeface="Cambria"/>
              </a:rPr>
              <a:t>Organizational Behavior in the Age of Artificial Intelligence</a:t>
            </a:r>
          </a:p>
        </p:txBody>
      </p:sp>
      <p:sp>
        <p:nvSpPr>
          <p:cNvPr id="4" name="TextBox 3"/>
          <p:cNvSpPr txBox="1"/>
          <p:nvPr/>
        </p:nvSpPr>
        <p:spPr>
          <a:xfrm>
            <a:off x="731520" y="4069080"/>
            <a:ext cx="6583680" cy="914400"/>
          </a:xfrm>
          <a:prstGeom prst="rect">
            <a:avLst/>
          </a:prstGeom>
          <a:noFill/>
        </p:spPr>
        <p:txBody>
          <a:bodyPr wrap="square" anchor="t" lIns="0" rIns="0" tIns="0" bIns="0">
            <a:spAutoFit/>
          </a:bodyPr>
          <a:lstStyle/>
          <a:p>
            <a:pPr algn="l">
              <a:spcAft>
                <a:spcPts val="0"/>
              </a:spcAft>
            </a:pPr>
            <a:r>
              <a:rPr sz="2000" b="0" i="1">
                <a:solidFill>
                  <a:srgbClr val="A8D5CB"/>
                </a:solidFill>
                <a:latin typeface="Calibri"/>
              </a:rPr>
              <a:t>How organizational behavior changes when humans and AI jointly develop knowledge and make decisions</a:t>
            </a:r>
          </a:p>
        </p:txBody>
      </p:sp>
      <p:sp>
        <p:nvSpPr>
          <p:cNvPr id="5" name="TextBox 4"/>
          <p:cNvSpPr txBox="1"/>
          <p:nvPr/>
        </p:nvSpPr>
        <p:spPr>
          <a:xfrm>
            <a:off x="731520" y="5760720"/>
            <a:ext cx="7315200" cy="365760"/>
          </a:xfrm>
          <a:prstGeom prst="rect">
            <a:avLst/>
          </a:prstGeom>
          <a:noFill/>
        </p:spPr>
        <p:txBody>
          <a:bodyPr wrap="square" anchor="t" lIns="0" rIns="0" tIns="0" bIns="0">
            <a:spAutoFit/>
          </a:bodyPr>
          <a:lstStyle/>
          <a:p>
            <a:pPr algn="l">
              <a:spcAft>
                <a:spcPts val="0"/>
              </a:spcAft>
            </a:pPr>
            <a:r>
              <a:rPr sz="1400" b="0" i="0">
                <a:solidFill>
                  <a:srgbClr val="FFFFFF"/>
                </a:solidFill>
                <a:latin typeface="Calibri"/>
              </a:rPr>
              <a:t>Omar R. Malik, Ph.D.  ·  School of Management  ·  Kettering University</a:t>
            </a:r>
          </a:p>
        </p:txBody>
      </p:sp>
      <p:sp>
        <p:nvSpPr>
          <p:cNvPr id="6" name="Oval 5"/>
          <p:cNvSpPr/>
          <p:nvPr/>
        </p:nvSpPr>
        <p:spPr>
          <a:xfrm>
            <a:off x="8138160" y="1920240"/>
            <a:ext cx="2468880" cy="2468880"/>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668865" y="1920240"/>
            <a:ext cx="2468880" cy="2468880"/>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38160" y="4526280"/>
            <a:ext cx="2468880" cy="365760"/>
          </a:xfrm>
          <a:prstGeom prst="rect">
            <a:avLst/>
          </a:prstGeom>
          <a:noFill/>
        </p:spPr>
        <p:txBody>
          <a:bodyPr wrap="square" anchor="t" lIns="0" rIns="0" tIns="0" bIns="0">
            <a:spAutoFit/>
          </a:bodyPr>
          <a:lstStyle/>
          <a:p>
            <a:pPr algn="ctr">
              <a:spcAft>
                <a:spcPts val="0"/>
              </a:spcAft>
            </a:pPr>
            <a:r>
              <a:rPr sz="1300" b="1" i="0">
                <a:solidFill>
                  <a:srgbClr val="FFFFFF"/>
                </a:solidFill>
                <a:latin typeface="Calibri"/>
              </a:rPr>
              <a:t>HUMAN</a:t>
            </a:r>
          </a:p>
        </p:txBody>
      </p:sp>
      <p:sp>
        <p:nvSpPr>
          <p:cNvPr id="9" name="TextBox 8"/>
          <p:cNvSpPr txBox="1"/>
          <p:nvPr/>
        </p:nvSpPr>
        <p:spPr>
          <a:xfrm>
            <a:off x="9665208" y="4526280"/>
            <a:ext cx="2468880" cy="365760"/>
          </a:xfrm>
          <a:prstGeom prst="rect">
            <a:avLst/>
          </a:prstGeom>
          <a:noFill/>
        </p:spPr>
        <p:txBody>
          <a:bodyPr wrap="square" anchor="t" lIns="0" rIns="0" tIns="0" bIns="0">
            <a:spAutoFit/>
          </a:bodyPr>
          <a:lstStyle/>
          <a:p>
            <a:pPr algn="ctr">
              <a:spcAft>
                <a:spcPts val="0"/>
              </a:spcAft>
            </a:pPr>
            <a:r>
              <a:rPr sz="1300" b="1" i="0">
                <a:solidFill>
                  <a:srgbClr val="FFFFFF"/>
                </a:solidFill>
                <a:latin typeface="Calibr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0 · COURSE PHILOSOPHY</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Why this course exists</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783080"/>
            <a:ext cx="4206240" cy="4114800"/>
          </a:xfrm>
          <a:prstGeom prst="rect">
            <a:avLst/>
          </a:prstGeom>
          <a:noFill/>
        </p:spPr>
        <p:txBody>
          <a:bodyPr wrap="square" anchor="t" lIns="0" rIns="0" tIns="0" bIns="0">
            <a:spAutoFit/>
          </a:bodyPr>
          <a:lstStyle/>
          <a:p>
            <a:pPr algn="l">
              <a:spcAft>
                <a:spcPts val="1400"/>
              </a:spcAft>
            </a:pPr>
            <a:r>
              <a:rPr sz="1800" b="0" i="0">
                <a:solidFill>
                  <a:srgbClr val="1F2A2E"/>
                </a:solidFill>
                <a:latin typeface="Calibri"/>
              </a:rPr>
              <a:t>Classic OB was built for workplaces where </a:t>
            </a:r>
            <a:r>
              <a:rPr sz="1800" b="1" i="0">
                <a:solidFill>
                  <a:srgbClr val="1F2A2E"/>
                </a:solidFill>
                <a:latin typeface="Calibri"/>
              </a:rPr>
              <a:t>only people held knowledge</a:t>
            </a:r>
            <a:r>
              <a:rPr sz="1800" b="0" i="0">
                <a:solidFill>
                  <a:srgbClr val="1F2A2E"/>
                </a:solidFill>
                <a:latin typeface="Calibri"/>
              </a:rPr>
              <a:t> and </a:t>
            </a:r>
            <a:r>
              <a:rPr sz="1800" b="1" i="0">
                <a:solidFill>
                  <a:srgbClr val="1F2A2E"/>
                </a:solidFill>
                <a:latin typeface="Calibri"/>
              </a:rPr>
              <a:t>only people made decisions.</a:t>
            </a:r>
          </a:p>
          <a:p>
            <a:pPr algn="l">
              <a:spcAft>
                <a:spcPts val="1400"/>
              </a:spcAft>
            </a:pPr>
            <a:r>
              <a:rPr sz="1800" b="1" i="0">
                <a:solidFill>
                  <a:srgbClr val="D9694A"/>
                </a:solidFill>
                <a:latin typeface="Calibri"/>
              </a:rPr>
              <a:t>That assumption no longer holds.</a:t>
            </a:r>
          </a:p>
          <a:p>
            <a:pPr algn="l">
              <a:spcAft>
                <a:spcPts val="1400"/>
              </a:spcAft>
            </a:pPr>
            <a:r>
              <a:rPr sz="1800" b="0" i="0">
                <a:solidFill>
                  <a:srgbClr val="1F2A2E"/>
                </a:solidFill>
                <a:latin typeface="Calibri"/>
              </a:rPr>
              <a:t>In each of these moments, knowledge is built jointly and decisions are made jointly. OB must account for what happens in those moments.</a:t>
            </a:r>
          </a:p>
        </p:txBody>
      </p:sp>
      <p:sp>
        <p:nvSpPr>
          <p:cNvPr id="7" name="Rounded Rectangle 6"/>
          <p:cNvSpPr/>
          <p:nvPr/>
        </p:nvSpPr>
        <p:spPr>
          <a:xfrm>
            <a:off x="5212080" y="1783080"/>
            <a:ext cx="3108960" cy="1874519"/>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486400" y="2057400"/>
            <a:ext cx="502920" cy="50292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9" name="TextBox 8"/>
          <p:cNvSpPr txBox="1"/>
          <p:nvPr/>
        </p:nvSpPr>
        <p:spPr>
          <a:xfrm>
            <a:off x="5486400" y="2697480"/>
            <a:ext cx="2606040" cy="86868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An employee drafts a report with a generative AI assistant</a:t>
            </a:r>
          </a:p>
        </p:txBody>
      </p:sp>
      <p:sp>
        <p:nvSpPr>
          <p:cNvPr id="10" name="Rounded Rectangle 9"/>
          <p:cNvSpPr/>
          <p:nvPr/>
        </p:nvSpPr>
        <p:spPr>
          <a:xfrm>
            <a:off x="8549640" y="1783080"/>
            <a:ext cx="3108960" cy="1874519"/>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823960" y="2057400"/>
            <a:ext cx="502920" cy="50292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2" name="TextBox 11"/>
          <p:cNvSpPr txBox="1"/>
          <p:nvPr/>
        </p:nvSpPr>
        <p:spPr>
          <a:xfrm>
            <a:off x="8823960" y="2697480"/>
            <a:ext cx="2606040" cy="86868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A recruiter screens applicants with a predictive algorithm</a:t>
            </a:r>
          </a:p>
        </p:txBody>
      </p:sp>
      <p:sp>
        <p:nvSpPr>
          <p:cNvPr id="13" name="Rounded Rectangle 12"/>
          <p:cNvSpPr/>
          <p:nvPr/>
        </p:nvSpPr>
        <p:spPr>
          <a:xfrm>
            <a:off x="5212080" y="3931920"/>
            <a:ext cx="3108960" cy="1874519"/>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486400" y="4206240"/>
            <a:ext cx="502920" cy="50292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5" name="TextBox 14"/>
          <p:cNvSpPr txBox="1"/>
          <p:nvPr/>
        </p:nvSpPr>
        <p:spPr>
          <a:xfrm>
            <a:off x="5486400" y="4846320"/>
            <a:ext cx="2606040" cy="86868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A team debates a recommendation no one can fully explain</a:t>
            </a:r>
          </a:p>
        </p:txBody>
      </p:sp>
      <p:sp>
        <p:nvSpPr>
          <p:cNvPr id="16" name="Rounded Rectangle 15"/>
          <p:cNvSpPr/>
          <p:nvPr/>
        </p:nvSpPr>
        <p:spPr>
          <a:xfrm>
            <a:off x="8549640" y="3931920"/>
            <a:ext cx="3108960" cy="1874519"/>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823960" y="4206240"/>
            <a:ext cx="502920" cy="50292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8" name="TextBox 17"/>
          <p:cNvSpPr txBox="1"/>
          <p:nvPr/>
        </p:nvSpPr>
        <p:spPr>
          <a:xfrm>
            <a:off x="8823960" y="4846320"/>
            <a:ext cx="2606040" cy="86868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A professional explains to a client a decision software made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A8D5CB"/>
                </a:solidFill>
                <a:latin typeface="Calibri"/>
              </a:rPr>
              <a:t>PART 0 · THE CENTRAL QUESTION</a:t>
            </a:r>
          </a:p>
        </p:txBody>
      </p:sp>
      <p:sp>
        <p:nvSpPr>
          <p:cNvPr id="3" name="Oval 2"/>
          <p:cNvSpPr/>
          <p:nvPr/>
        </p:nvSpPr>
        <p:spPr>
          <a:xfrm>
            <a:off x="5349240" y="914400"/>
            <a:ext cx="868680" cy="868680"/>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887821" y="914400"/>
            <a:ext cx="868680" cy="868680"/>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97280" y="2103120"/>
            <a:ext cx="9966960" cy="2011680"/>
          </a:xfrm>
          <a:prstGeom prst="rect">
            <a:avLst/>
          </a:prstGeom>
          <a:noFill/>
        </p:spPr>
        <p:txBody>
          <a:bodyPr wrap="square" anchor="t" lIns="0" rIns="0" tIns="0" bIns="0">
            <a:spAutoFit/>
          </a:bodyPr>
          <a:lstStyle/>
          <a:p>
            <a:pPr algn="ctr">
              <a:spcAft>
                <a:spcPts val="0"/>
              </a:spcAft>
            </a:pPr>
            <a:r>
              <a:rPr sz="3600" b="1" i="0">
                <a:solidFill>
                  <a:srgbClr val="FFFFFF"/>
                </a:solidFill>
                <a:latin typeface="Cambria"/>
              </a:rPr>
              <a:t>How does organizational behavior change when humans and AI jointly develop knowledge and make decisions?</a:t>
            </a:r>
          </a:p>
        </p:txBody>
      </p:sp>
      <p:sp>
        <p:nvSpPr>
          <p:cNvPr id="6" name="TextBox 5"/>
          <p:cNvSpPr txBox="1"/>
          <p:nvPr/>
        </p:nvSpPr>
        <p:spPr>
          <a:xfrm>
            <a:off x="1645920" y="4480560"/>
            <a:ext cx="8869680" cy="1097280"/>
          </a:xfrm>
          <a:prstGeom prst="rect">
            <a:avLst/>
          </a:prstGeom>
          <a:noFill/>
        </p:spPr>
        <p:txBody>
          <a:bodyPr wrap="square" anchor="t" lIns="0" rIns="0" tIns="0" bIns="0">
            <a:spAutoFit/>
          </a:bodyPr>
          <a:lstStyle/>
          <a:p>
            <a:pPr algn="ctr">
              <a:spcAft>
                <a:spcPts val="0"/>
              </a:spcAft>
            </a:pPr>
            <a:r>
              <a:rPr sz="1800" b="0" i="1">
                <a:solidFill>
                  <a:srgbClr val="A8D5CB"/>
                </a:solidFill>
                <a:latin typeface="Calibri"/>
              </a:rPr>
              <a:t>And for every topic: what does this theory assume about who knows and who decides — and what happens to it when AI becomes part of knowing and deciding?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0 · COURSE PHILOSOPHY</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Two processes at the heart of organizational life</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783080"/>
            <a:ext cx="5394960" cy="324612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68680" y="2057400"/>
            <a:ext cx="731520" cy="73152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K</a:t>
            </a:r>
          </a:p>
        </p:txBody>
      </p:sp>
      <p:sp>
        <p:nvSpPr>
          <p:cNvPr id="8" name="TextBox 7"/>
          <p:cNvSpPr txBox="1"/>
          <p:nvPr/>
        </p:nvSpPr>
        <p:spPr>
          <a:xfrm>
            <a:off x="1783080" y="2148840"/>
            <a:ext cx="3840480" cy="548640"/>
          </a:xfrm>
          <a:prstGeom prst="rect">
            <a:avLst/>
          </a:prstGeom>
          <a:noFill/>
        </p:spPr>
        <p:txBody>
          <a:bodyPr wrap="square" anchor="t" lIns="0" rIns="0" tIns="0" bIns="0">
            <a:spAutoFit/>
          </a:bodyPr>
          <a:lstStyle/>
          <a:p>
            <a:pPr algn="l">
              <a:spcAft>
                <a:spcPts val="0"/>
              </a:spcAft>
            </a:pPr>
            <a:r>
              <a:rPr sz="2600" b="1" i="0">
                <a:solidFill>
                  <a:srgbClr val="2E8B7A"/>
                </a:solidFill>
                <a:latin typeface="Cambria"/>
              </a:rPr>
              <a:t>Knowing</a:t>
            </a:r>
          </a:p>
        </p:txBody>
      </p:sp>
      <p:sp>
        <p:nvSpPr>
          <p:cNvPr id="9" name="TextBox 8"/>
          <p:cNvSpPr txBox="1"/>
          <p:nvPr/>
        </p:nvSpPr>
        <p:spPr>
          <a:xfrm>
            <a:off x="868680" y="2971800"/>
            <a:ext cx="4754880" cy="1920240"/>
          </a:xfrm>
          <a:prstGeom prst="rect">
            <a:avLst/>
          </a:prstGeom>
          <a:noFill/>
        </p:spPr>
        <p:txBody>
          <a:bodyPr wrap="square" anchor="t" lIns="0" rIns="0" tIns="0" bIns="0">
            <a:spAutoFit/>
          </a:bodyPr>
          <a:lstStyle/>
          <a:p>
            <a:pPr algn="l">
              <a:spcAft>
                <a:spcPts val="1000"/>
              </a:spcAft>
            </a:pPr>
            <a:r>
              <a:rPr sz="1700" b="0" i="0">
                <a:solidFill>
                  <a:srgbClr val="1F2A2E"/>
                </a:solidFill>
                <a:latin typeface="Calibri"/>
              </a:rPr>
              <a:t>What employees perceive, learn, remember, and share.</a:t>
            </a:r>
          </a:p>
          <a:p>
            <a:pPr algn="l">
              <a:spcAft>
                <a:spcPts val="1000"/>
              </a:spcAft>
            </a:pPr>
            <a:r>
              <a:rPr sz="1400" b="0" i="0">
                <a:solidFill>
                  <a:srgbClr val="5B6B70"/>
                </a:solidFill>
                <a:latin typeface="Calibri"/>
              </a:rPr>
              <a:t>Classic view: knowledge is created by people through experience and conversation (Nonaka, 1994), within the limits of bounded rationality (Simon, 1991).</a:t>
            </a:r>
          </a:p>
        </p:txBody>
      </p:sp>
      <p:sp>
        <p:nvSpPr>
          <p:cNvPr id="10" name="Rounded Rectangle 9"/>
          <p:cNvSpPr/>
          <p:nvPr/>
        </p:nvSpPr>
        <p:spPr>
          <a:xfrm>
            <a:off x="6217920" y="1783080"/>
            <a:ext cx="5394960" cy="324612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7959" y="2057400"/>
            <a:ext cx="731520" cy="73152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D</a:t>
            </a:r>
          </a:p>
        </p:txBody>
      </p:sp>
      <p:sp>
        <p:nvSpPr>
          <p:cNvPr id="12" name="TextBox 11"/>
          <p:cNvSpPr txBox="1"/>
          <p:nvPr/>
        </p:nvSpPr>
        <p:spPr>
          <a:xfrm>
            <a:off x="7452360" y="2148840"/>
            <a:ext cx="3840480" cy="548640"/>
          </a:xfrm>
          <a:prstGeom prst="rect">
            <a:avLst/>
          </a:prstGeom>
          <a:noFill/>
        </p:spPr>
        <p:txBody>
          <a:bodyPr wrap="square" anchor="t" lIns="0" rIns="0" tIns="0" bIns="0">
            <a:spAutoFit/>
          </a:bodyPr>
          <a:lstStyle/>
          <a:p>
            <a:pPr algn="l">
              <a:spcAft>
                <a:spcPts val="0"/>
              </a:spcAft>
            </a:pPr>
            <a:r>
              <a:rPr sz="2600" b="1" i="0">
                <a:solidFill>
                  <a:srgbClr val="D9694A"/>
                </a:solidFill>
                <a:latin typeface="Cambria"/>
              </a:rPr>
              <a:t>Deciding</a:t>
            </a:r>
          </a:p>
        </p:txBody>
      </p:sp>
      <p:sp>
        <p:nvSpPr>
          <p:cNvPr id="13" name="TextBox 12"/>
          <p:cNvSpPr txBox="1"/>
          <p:nvPr/>
        </p:nvSpPr>
        <p:spPr>
          <a:xfrm>
            <a:off x="6537959" y="2971800"/>
            <a:ext cx="4754880" cy="1920240"/>
          </a:xfrm>
          <a:prstGeom prst="rect">
            <a:avLst/>
          </a:prstGeom>
          <a:noFill/>
        </p:spPr>
        <p:txBody>
          <a:bodyPr wrap="square" anchor="t" lIns="0" rIns="0" tIns="0" bIns="0">
            <a:spAutoFit/>
          </a:bodyPr>
          <a:lstStyle/>
          <a:p>
            <a:pPr algn="l">
              <a:spcAft>
                <a:spcPts val="1000"/>
              </a:spcAft>
            </a:pPr>
            <a:r>
              <a:rPr sz="1700" b="0" i="0">
                <a:solidFill>
                  <a:srgbClr val="1F2A2E"/>
                </a:solidFill>
                <a:latin typeface="Calibri"/>
              </a:rPr>
              <a:t>Who is hired, how work is designed, which option a team chooses, how performance is judged.</a:t>
            </a:r>
          </a:p>
          <a:p>
            <a:pPr algn="l">
              <a:spcAft>
                <a:spcPts val="1000"/>
              </a:spcAft>
            </a:pPr>
            <a:r>
              <a:rPr sz="1400" b="0" i="0">
                <a:solidFill>
                  <a:srgbClr val="5B6B70"/>
                </a:solidFill>
                <a:latin typeface="Calibri"/>
              </a:rPr>
              <a:t>Classic view: decisions are human judgments shaped by personality, perception, group dynamics, and leadership.</a:t>
            </a:r>
          </a:p>
        </p:txBody>
      </p:sp>
      <p:sp>
        <p:nvSpPr>
          <p:cNvPr id="14" name="TextBox 13"/>
          <p:cNvSpPr txBox="1"/>
          <p:nvPr/>
        </p:nvSpPr>
        <p:spPr>
          <a:xfrm>
            <a:off x="548640" y="5349240"/>
            <a:ext cx="11064240" cy="822960"/>
          </a:xfrm>
          <a:prstGeom prst="rect">
            <a:avLst/>
          </a:prstGeom>
          <a:noFill/>
        </p:spPr>
        <p:txBody>
          <a:bodyPr wrap="square" anchor="t" lIns="0" rIns="0" tIns="0" bIns="0">
            <a:spAutoFit/>
          </a:bodyPr>
          <a:lstStyle/>
          <a:p>
            <a:pPr algn="l">
              <a:spcAft>
                <a:spcPts val="0"/>
              </a:spcAft>
            </a:pPr>
            <a:r>
              <a:rPr sz="1800" b="1" i="0">
                <a:solidFill>
                  <a:srgbClr val="1F2A2E"/>
                </a:solidFill>
                <a:latin typeface="Calibri"/>
              </a:rPr>
              <a:t>AI now participates in both, </a:t>
            </a:r>
            <a:r>
              <a:rPr sz="1800" b="0" i="0">
                <a:solidFill>
                  <a:srgbClr val="1F2A2E"/>
                </a:solidFill>
                <a:latin typeface="Calibri"/>
              </a:rPr>
              <a:t>changing trust, learning, job satisfaction, leadership, team decisions, fairness, and professional expertise.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0 · COURSE PHILOSOPHY</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AI is the context. OB is the content.</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828800"/>
            <a:ext cx="3291840" cy="201168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2103120"/>
            <a:ext cx="548640" cy="548640"/>
          </a:xfrm>
          <a:prstGeom prst="ellipse">
            <a:avLst/>
          </a:prstGeom>
          <a:solidFill>
            <a:srgbClr val="1F2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822959" y="2788920"/>
            <a:ext cx="2834640" cy="45720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Textbook chapter</a:t>
            </a:r>
          </a:p>
        </p:txBody>
      </p:sp>
      <p:sp>
        <p:nvSpPr>
          <p:cNvPr id="9" name="TextBox 8"/>
          <p:cNvSpPr txBox="1"/>
          <p:nvPr/>
        </p:nvSpPr>
        <p:spPr>
          <a:xfrm>
            <a:off x="822959" y="3200400"/>
            <a:ext cx="2834640" cy="54864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Core OB concepts</a:t>
            </a:r>
          </a:p>
        </p:txBody>
      </p:sp>
      <p:sp>
        <p:nvSpPr>
          <p:cNvPr id="10" name="Right Arrow 9"/>
          <p:cNvSpPr/>
          <p:nvPr/>
        </p:nvSpPr>
        <p:spPr>
          <a:xfrm>
            <a:off x="3913632" y="2651760"/>
            <a:ext cx="411480" cy="365760"/>
          </a:xfrm>
          <a:prstGeom prst="rightArrow">
            <a:avLst/>
          </a:prstGeom>
          <a:solidFill>
            <a:srgbClr val="5B6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389120" y="1828800"/>
            <a:ext cx="3291840" cy="201168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663440" y="2103120"/>
            <a:ext cx="548640" cy="54864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3" name="TextBox 12"/>
          <p:cNvSpPr txBox="1"/>
          <p:nvPr/>
        </p:nvSpPr>
        <p:spPr>
          <a:xfrm>
            <a:off x="4663440" y="2788920"/>
            <a:ext cx="2834640" cy="45720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Classic article</a:t>
            </a:r>
          </a:p>
        </p:txBody>
      </p:sp>
      <p:sp>
        <p:nvSpPr>
          <p:cNvPr id="14" name="TextBox 13"/>
          <p:cNvSpPr txBox="1"/>
          <p:nvPr/>
        </p:nvSpPr>
        <p:spPr>
          <a:xfrm>
            <a:off x="4663440" y="3200400"/>
            <a:ext cx="2834640" cy="54864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The foundational theory</a:t>
            </a:r>
          </a:p>
        </p:txBody>
      </p:sp>
      <p:sp>
        <p:nvSpPr>
          <p:cNvPr id="15" name="Right Arrow 14"/>
          <p:cNvSpPr/>
          <p:nvPr/>
        </p:nvSpPr>
        <p:spPr>
          <a:xfrm>
            <a:off x="7754112" y="2651760"/>
            <a:ext cx="411480" cy="365760"/>
          </a:xfrm>
          <a:prstGeom prst="rightArrow">
            <a:avLst/>
          </a:prstGeom>
          <a:solidFill>
            <a:srgbClr val="5B6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229600" y="1828800"/>
            <a:ext cx="3291840" cy="201168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503920" y="2103120"/>
            <a:ext cx="548640" cy="54864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8" name="TextBox 17"/>
          <p:cNvSpPr txBox="1"/>
          <p:nvPr/>
        </p:nvSpPr>
        <p:spPr>
          <a:xfrm>
            <a:off x="8503920" y="2788920"/>
            <a:ext cx="2834640" cy="45720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Contemporary AI article</a:t>
            </a:r>
          </a:p>
        </p:txBody>
      </p:sp>
      <p:sp>
        <p:nvSpPr>
          <p:cNvPr id="19" name="TextBox 18"/>
          <p:cNvSpPr txBox="1"/>
          <p:nvPr/>
        </p:nvSpPr>
        <p:spPr>
          <a:xfrm>
            <a:off x="8503920" y="3200400"/>
            <a:ext cx="2834640" cy="54864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JOB, AMJ, ASQ, JMS, Personnel Psychology</a:t>
            </a:r>
          </a:p>
        </p:txBody>
      </p:sp>
      <p:sp>
        <p:nvSpPr>
          <p:cNvPr id="20" name="Rounded Rectangle 19"/>
          <p:cNvSpPr/>
          <p:nvPr/>
        </p:nvSpPr>
        <p:spPr>
          <a:xfrm>
            <a:off x="548640" y="4206240"/>
            <a:ext cx="11064240" cy="1920240"/>
          </a:xfrm>
          <a:prstGeom prst="roundRect">
            <a:avLst>
              <a:gd name="adj" fmla="val 6000"/>
            </a:avLst>
          </a:prstGeom>
          <a:solidFill>
            <a:srgbClr val="FFFFFF"/>
          </a:solidFill>
          <a:ln>
            <a:solidFill>
              <a:srgbClr val="A8D5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389120"/>
            <a:ext cx="10424160" cy="1645920"/>
          </a:xfrm>
          <a:prstGeom prst="rect">
            <a:avLst/>
          </a:prstGeom>
          <a:noFill/>
        </p:spPr>
        <p:txBody>
          <a:bodyPr wrap="square" anchor="t" lIns="0" rIns="0" tIns="0" bIns="0">
            <a:spAutoFit/>
          </a:bodyPr>
          <a:lstStyle/>
          <a:p>
            <a:pPr algn="l">
              <a:spcAft>
                <a:spcPts val="1200"/>
              </a:spcAft>
            </a:pPr>
            <a:r>
              <a:rPr sz="1700" b="1" i="0">
                <a:solidFill>
                  <a:srgbClr val="2E8B7A"/>
                </a:solidFill>
                <a:latin typeface="Calibri"/>
              </a:rPr>
              <a:t>The goal: </a:t>
            </a:r>
            <a:r>
              <a:rPr sz="1700" b="0" i="0">
                <a:solidFill>
                  <a:srgbClr val="1F2A2E"/>
                </a:solidFill>
                <a:latin typeface="Calibri"/>
              </a:rPr>
              <a:t>see exactly where a classic theory holds, where it bends, and where it needs new ideas.</a:t>
            </a:r>
          </a:p>
          <a:p>
            <a:pPr algn="l">
              <a:spcAft>
                <a:spcPts val="1200"/>
              </a:spcAft>
            </a:pPr>
            <a:r>
              <a:rPr sz="1700" b="1" i="0">
                <a:solidFill>
                  <a:srgbClr val="D9694A"/>
                </a:solidFill>
                <a:latin typeface="Calibri"/>
              </a:rPr>
              <a:t>Example: </a:t>
            </a:r>
            <a:r>
              <a:rPr sz="1700" b="0" i="0">
                <a:solidFill>
                  <a:srgbClr val="1F2A2E"/>
                </a:solidFill>
                <a:latin typeface="Calibri"/>
              </a:rPr>
              <a:t>Schulz et al. (2025) use job characteristics theory — nearly fifty years old — to explain why AI adoption both raises and lowers job satisfaction.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 · COURSE FOUNDATIONS</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What AI changes in classic OB assumptions</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Table 5"/>
          <p:cNvGraphicFramePr>
            <a:graphicFrameLocks noGrp="1"/>
          </p:cNvGraphicFramePr>
          <p:nvPr/>
        </p:nvGraphicFramePr>
        <p:xfrm>
          <a:off x="548640" y="1737360"/>
          <a:ext cx="11064240" cy="4361688"/>
        </p:xfrm>
        <a:graphic>
          <a:graphicData uri="http://schemas.openxmlformats.org/drawingml/2006/table">
            <a:tbl>
              <a:tblPr firstRow="1" bandRow="1">
                <a:tableStyleId>{5C22544A-7EE6-4342-B048-85BDC9FD1C3A}</a:tableStyleId>
              </a:tblPr>
              <a:tblGrid>
                <a:gridCol w="5120640"/>
                <a:gridCol w="5943600"/>
              </a:tblGrid>
              <a:tr h="484632">
                <a:tc>
                  <a:txBody>
                    <a:bodyPr wrap="square"/>
                    <a:lstStyle/>
                    <a:p>
                      <a:r>
                        <a:rPr sz="1500" b="1">
                          <a:solidFill>
                            <a:srgbClr val="FFFFFF"/>
                          </a:solidFill>
                          <a:latin typeface="Calibri"/>
                        </a:rPr>
                        <a:t>Classic assumption</a:t>
                      </a:r>
                    </a:p>
                  </a:txBody>
                  <a:tcPr marL="73152" marR="73152" marT="27432" marB="27432" anchor="ctr">
                    <a:solidFill>
                      <a:srgbClr val="1F2A2E"/>
                    </a:solidFill>
                  </a:tcPr>
                </a:tc>
                <a:tc>
                  <a:txBody>
                    <a:bodyPr wrap="square"/>
                    <a:lstStyle/>
                    <a:p>
                      <a:r>
                        <a:rPr sz="1500" b="1">
                          <a:solidFill>
                            <a:srgbClr val="FFFFFF"/>
                          </a:solidFill>
                          <a:latin typeface="Calibri"/>
                        </a:rPr>
                        <a:t>What AI changes</a:t>
                      </a:r>
                    </a:p>
                  </a:txBody>
                  <a:tcPr marL="73152" marR="73152" marT="27432" marB="27432" anchor="ctr">
                    <a:solidFill>
                      <a:srgbClr val="1F2A2E"/>
                    </a:solidFill>
                  </a:tcPr>
                </a:tc>
              </a:tr>
              <a:tr h="484632">
                <a:tc>
                  <a:txBody>
                    <a:bodyPr wrap="square"/>
                    <a:lstStyle/>
                    <a:p>
                      <a:r>
                        <a:rPr sz="1500" b="0">
                          <a:solidFill>
                            <a:srgbClr val="1F2A2E"/>
                          </a:solidFill>
                          <a:latin typeface="Calibri"/>
                        </a:rPr>
                        <a:t>Knowledge is created by people</a:t>
                      </a:r>
                    </a:p>
                  </a:txBody>
                  <a:tcPr marL="73152" marR="73152" marT="27432" marB="27432" anchor="ctr">
                    <a:solidFill>
                      <a:srgbClr val="FFFFFF"/>
                    </a:solidFill>
                  </a:tcPr>
                </a:tc>
                <a:tc>
                  <a:txBody>
                    <a:bodyPr wrap="square"/>
                    <a:lstStyle/>
                    <a:p>
                      <a:r>
                        <a:rPr sz="1500" b="0">
                          <a:solidFill>
                            <a:srgbClr val="1F2A2E"/>
                          </a:solidFill>
                          <a:latin typeface="Calibri"/>
                        </a:rPr>
                        <a:t>AI generates, organizes, and recombines knowledge</a:t>
                      </a:r>
                    </a:p>
                  </a:txBody>
                  <a:tcPr marL="73152" marR="73152" marT="27432" marB="27432" anchor="ctr">
                    <a:solidFill>
                      <a:srgbClr val="FFFFFF"/>
                    </a:solidFill>
                  </a:tcPr>
                </a:tc>
              </a:tr>
              <a:tr h="484632">
                <a:tc>
                  <a:txBody>
                    <a:bodyPr wrap="square"/>
                    <a:lstStyle/>
                    <a:p>
                      <a:r>
                        <a:rPr sz="1500" b="0">
                          <a:solidFill>
                            <a:srgbClr val="1F2A2E"/>
                          </a:solidFill>
                          <a:latin typeface="Calibri"/>
                        </a:rPr>
                        <a:t>Decisions are made by people</a:t>
                      </a:r>
                    </a:p>
                  </a:txBody>
                  <a:tcPr marL="73152" marR="73152" marT="27432" marB="27432" anchor="ctr">
                    <a:solidFill>
                      <a:srgbClr val="EEF3F1"/>
                    </a:solidFill>
                  </a:tcPr>
                </a:tc>
                <a:tc>
                  <a:txBody>
                    <a:bodyPr wrap="square"/>
                    <a:lstStyle/>
                    <a:p>
                      <a:r>
                        <a:rPr sz="1500" b="0">
                          <a:solidFill>
                            <a:srgbClr val="1F2A2E"/>
                          </a:solidFill>
                          <a:latin typeface="Calibri"/>
                        </a:rPr>
                        <a:t>AI recommends, ranks, and sometimes decides</a:t>
                      </a:r>
                    </a:p>
                  </a:txBody>
                  <a:tcPr marL="73152" marR="73152" marT="27432" marB="27432" anchor="ctr">
                    <a:solidFill>
                      <a:srgbClr val="EEF3F1"/>
                    </a:solidFill>
                  </a:tcPr>
                </a:tc>
              </a:tr>
              <a:tr h="484632">
                <a:tc>
                  <a:txBody>
                    <a:bodyPr wrap="square"/>
                    <a:lstStyle/>
                    <a:p>
                      <a:r>
                        <a:rPr sz="1500" b="0">
                          <a:solidFill>
                            <a:srgbClr val="1F2A2E"/>
                          </a:solidFill>
                          <a:latin typeface="Calibri"/>
                        </a:rPr>
                        <a:t>Trust is built between people</a:t>
                      </a:r>
                    </a:p>
                  </a:txBody>
                  <a:tcPr marL="73152" marR="73152" marT="27432" marB="27432" anchor="ctr">
                    <a:solidFill>
                      <a:srgbClr val="FFFFFF"/>
                    </a:solidFill>
                  </a:tcPr>
                </a:tc>
                <a:tc>
                  <a:txBody>
                    <a:bodyPr wrap="square"/>
                    <a:lstStyle/>
                    <a:p>
                      <a:r>
                        <a:rPr sz="1500" b="0">
                          <a:solidFill>
                            <a:srgbClr val="1F2A2E"/>
                          </a:solidFill>
                          <a:latin typeface="Calibri"/>
                        </a:rPr>
                        <a:t>Employees calibrate trust in systems they cannot inspect</a:t>
                      </a:r>
                    </a:p>
                  </a:txBody>
                  <a:tcPr marL="73152" marR="73152" marT="27432" marB="27432" anchor="ctr">
                    <a:solidFill>
                      <a:srgbClr val="FFFFFF"/>
                    </a:solidFill>
                  </a:tcPr>
                </a:tc>
              </a:tr>
              <a:tr h="484632">
                <a:tc>
                  <a:txBody>
                    <a:bodyPr wrap="square"/>
                    <a:lstStyle/>
                    <a:p>
                      <a:r>
                        <a:rPr sz="1500" b="0">
                          <a:solidFill>
                            <a:srgbClr val="1F2A2E"/>
                          </a:solidFill>
                          <a:latin typeface="Calibri"/>
                        </a:rPr>
                        <a:t>Managers design jobs that motivate</a:t>
                      </a:r>
                    </a:p>
                  </a:txBody>
                  <a:tcPr marL="73152" marR="73152" marT="27432" marB="27432" anchor="ctr">
                    <a:solidFill>
                      <a:srgbClr val="EEF3F1"/>
                    </a:solidFill>
                  </a:tcPr>
                </a:tc>
                <a:tc>
                  <a:txBody>
                    <a:bodyPr wrap="square"/>
                    <a:lstStyle/>
                    <a:p>
                      <a:r>
                        <a:rPr sz="1500" b="0">
                          <a:solidFill>
                            <a:srgbClr val="1F2A2E"/>
                          </a:solidFill>
                          <a:latin typeface="Calibri"/>
                        </a:rPr>
                        <a:t>Algorithms assign, monitor, and evaluate work</a:t>
                      </a:r>
                    </a:p>
                  </a:txBody>
                  <a:tcPr marL="73152" marR="73152" marT="27432" marB="27432" anchor="ctr">
                    <a:solidFill>
                      <a:srgbClr val="EEF3F1"/>
                    </a:solidFill>
                  </a:tcPr>
                </a:tc>
              </a:tr>
              <a:tr h="484632">
                <a:tc>
                  <a:txBody>
                    <a:bodyPr wrap="square"/>
                    <a:lstStyle/>
                    <a:p>
                      <a:r>
                        <a:rPr sz="1500" b="0">
                          <a:solidFill>
                            <a:srgbClr val="1F2A2E"/>
                          </a:solidFill>
                          <a:latin typeface="Calibri"/>
                        </a:rPr>
                        <a:t>Leaders influence through relationships</a:t>
                      </a:r>
                    </a:p>
                  </a:txBody>
                  <a:tcPr marL="73152" marR="73152" marT="27432" marB="27432" anchor="ctr">
                    <a:solidFill>
                      <a:srgbClr val="FFFFFF"/>
                    </a:solidFill>
                  </a:tcPr>
                </a:tc>
                <a:tc>
                  <a:txBody>
                    <a:bodyPr wrap="square"/>
                    <a:lstStyle/>
                    <a:p>
                      <a:r>
                        <a:rPr sz="1500" b="0">
                          <a:solidFill>
                            <a:srgbClr val="1F2A2E"/>
                          </a:solidFill>
                          <a:latin typeface="Calibri"/>
                        </a:rPr>
                        <a:t>Leaders collaborate and share influence with AI</a:t>
                      </a:r>
                    </a:p>
                  </a:txBody>
                  <a:tcPr marL="73152" marR="73152" marT="27432" marB="27432" anchor="ctr">
                    <a:solidFill>
                      <a:srgbClr val="FFFFFF"/>
                    </a:solidFill>
                  </a:tcPr>
                </a:tc>
              </a:tr>
              <a:tr h="484632">
                <a:tc>
                  <a:txBody>
                    <a:bodyPr wrap="square"/>
                    <a:lstStyle/>
                    <a:p>
                      <a:r>
                        <a:rPr sz="1500" b="0">
                          <a:solidFill>
                            <a:srgbClr val="1F2A2E"/>
                          </a:solidFill>
                          <a:latin typeface="Calibri"/>
                        </a:rPr>
                        <a:t>Groups fail when information isn't shared</a:t>
                      </a:r>
                    </a:p>
                  </a:txBody>
                  <a:tcPr marL="73152" marR="73152" marT="27432" marB="27432" anchor="ctr">
                    <a:solidFill>
                      <a:srgbClr val="EEF3F1"/>
                    </a:solidFill>
                  </a:tcPr>
                </a:tc>
                <a:tc>
                  <a:txBody>
                    <a:bodyPr wrap="square"/>
                    <a:lstStyle/>
                    <a:p>
                      <a:r>
                        <a:rPr sz="1500" b="0">
                          <a:solidFill>
                            <a:srgbClr val="1F2A2E"/>
                          </a:solidFill>
                          <a:latin typeface="Calibri"/>
                        </a:rPr>
                        <a:t>AI can pool information and create new asymmetries</a:t>
                      </a:r>
                    </a:p>
                  </a:txBody>
                  <a:tcPr marL="73152" marR="73152" marT="27432" marB="27432" anchor="ctr">
                    <a:solidFill>
                      <a:srgbClr val="EEF3F1"/>
                    </a:solidFill>
                  </a:tcPr>
                </a:tc>
              </a:tr>
              <a:tr h="484632">
                <a:tc>
                  <a:txBody>
                    <a:bodyPr wrap="square"/>
                    <a:lstStyle/>
                    <a:p>
                      <a:r>
                        <a:rPr sz="1500" b="0">
                          <a:solidFill>
                            <a:srgbClr val="1F2A2E"/>
                          </a:solidFill>
                          <a:latin typeface="Calibri"/>
                        </a:rPr>
                        <a:t>Fairness depends on managers' judgment</a:t>
                      </a:r>
                    </a:p>
                  </a:txBody>
                  <a:tcPr marL="73152" marR="73152" marT="27432" marB="27432" anchor="ctr">
                    <a:solidFill>
                      <a:srgbClr val="FFFFFF"/>
                    </a:solidFill>
                  </a:tcPr>
                </a:tc>
                <a:tc>
                  <a:txBody>
                    <a:bodyPr wrap="square"/>
                    <a:lstStyle/>
                    <a:p>
                      <a:r>
                        <a:rPr sz="1500" b="0">
                          <a:solidFill>
                            <a:srgbClr val="1F2A2E"/>
                          </a:solidFill>
                          <a:latin typeface="Calibri"/>
                        </a:rPr>
                        <a:t>Fairness depends on data, design, and how outputs are used</a:t>
                      </a:r>
                    </a:p>
                  </a:txBody>
                  <a:tcPr marL="73152" marR="73152" marT="27432" marB="27432" anchor="ctr">
                    <a:solidFill>
                      <a:srgbClr val="FFFFFF"/>
                    </a:solidFill>
                  </a:tcPr>
                </a:tc>
              </a:tr>
              <a:tr h="484632">
                <a:tc>
                  <a:txBody>
                    <a:bodyPr wrap="square"/>
                    <a:lstStyle/>
                    <a:p>
                      <a:r>
                        <a:rPr sz="1500" b="0">
                          <a:solidFill>
                            <a:srgbClr val="1F2A2E"/>
                          </a:solidFill>
                          <a:latin typeface="Calibri"/>
                        </a:rPr>
                        <a:t>Expertise gives professionals authority</a:t>
                      </a:r>
                    </a:p>
                  </a:txBody>
                  <a:tcPr marL="73152" marR="73152" marT="27432" marB="27432" anchor="ctr">
                    <a:solidFill>
                      <a:srgbClr val="EEF3F1"/>
                    </a:solidFill>
                  </a:tcPr>
                </a:tc>
                <a:tc>
                  <a:txBody>
                    <a:bodyPr wrap="square"/>
                    <a:lstStyle/>
                    <a:p>
                      <a:r>
                        <a:rPr sz="1500" b="0">
                          <a:solidFill>
                            <a:srgbClr val="1F2A2E"/>
                          </a:solidFill>
                          <a:latin typeface="Calibri"/>
                        </a:rPr>
                        <a:t>AI challenges who holds expertise and authority</a:t>
                      </a:r>
                    </a:p>
                  </a:txBody>
                  <a:tcPr marL="73152" marR="73152" marT="27432" marB="27432" anchor="ctr">
                    <a:solidFill>
                      <a:srgbClr val="EEF3F1"/>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 · COURSE FOUNDATIONS</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Five commitments behind the course</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828800"/>
            <a:ext cx="2066543" cy="420624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2103120"/>
            <a:ext cx="548640" cy="54864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777240" y="2834640"/>
            <a:ext cx="1691640" cy="10972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The foundations still matter</a:t>
            </a:r>
          </a:p>
        </p:txBody>
      </p:sp>
      <p:sp>
        <p:nvSpPr>
          <p:cNvPr id="9" name="TextBox 8"/>
          <p:cNvSpPr txBox="1"/>
          <p:nvPr/>
        </p:nvSpPr>
        <p:spPr>
          <a:xfrm>
            <a:off x="777240" y="4023360"/>
            <a:ext cx="1691640" cy="182880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You can't evaluate how AI changes OB without first understanding OB.</a:t>
            </a:r>
          </a:p>
        </p:txBody>
      </p:sp>
      <p:sp>
        <p:nvSpPr>
          <p:cNvPr id="10" name="Rounded Rectangle 9"/>
          <p:cNvSpPr/>
          <p:nvPr/>
        </p:nvSpPr>
        <p:spPr>
          <a:xfrm>
            <a:off x="2798064" y="1828800"/>
            <a:ext cx="2066543" cy="420624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026664" y="2103120"/>
            <a:ext cx="548640" cy="54864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2" name="TextBox 11"/>
          <p:cNvSpPr txBox="1"/>
          <p:nvPr/>
        </p:nvSpPr>
        <p:spPr>
          <a:xfrm>
            <a:off x="3026664" y="2834640"/>
            <a:ext cx="1691640" cy="10972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Assumptions are where theories break</a:t>
            </a:r>
          </a:p>
        </p:txBody>
      </p:sp>
      <p:sp>
        <p:nvSpPr>
          <p:cNvPr id="13" name="TextBox 12"/>
          <p:cNvSpPr txBox="1"/>
          <p:nvPr/>
        </p:nvSpPr>
        <p:spPr>
          <a:xfrm>
            <a:off x="3026664" y="4023360"/>
            <a:ext cx="1691640" cy="182880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Look for what a theory assumes about who knows and who decides.</a:t>
            </a:r>
          </a:p>
        </p:txBody>
      </p:sp>
      <p:sp>
        <p:nvSpPr>
          <p:cNvPr id="14" name="Rounded Rectangle 13"/>
          <p:cNvSpPr/>
          <p:nvPr/>
        </p:nvSpPr>
        <p:spPr>
          <a:xfrm>
            <a:off x="5047488" y="1828800"/>
            <a:ext cx="2066543" cy="420624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276088" y="2103120"/>
            <a:ext cx="548640" cy="54864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6" name="TextBox 15"/>
          <p:cNvSpPr txBox="1"/>
          <p:nvPr/>
        </p:nvSpPr>
        <p:spPr>
          <a:xfrm>
            <a:off x="5276088" y="2834640"/>
            <a:ext cx="1691640" cy="10972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Evidence beats opinion</a:t>
            </a:r>
          </a:p>
        </p:txBody>
      </p:sp>
      <p:sp>
        <p:nvSpPr>
          <p:cNvPr id="17" name="TextBox 16"/>
          <p:cNvSpPr txBox="1"/>
          <p:nvPr/>
        </p:nvSpPr>
        <p:spPr>
          <a:xfrm>
            <a:off x="5276088" y="4023360"/>
            <a:ext cx="1691640" cy="182880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Rely on peer-reviewed research, not predictions about AI.</a:t>
            </a:r>
          </a:p>
        </p:txBody>
      </p:sp>
      <p:sp>
        <p:nvSpPr>
          <p:cNvPr id="18" name="Rounded Rectangle 17"/>
          <p:cNvSpPr/>
          <p:nvPr/>
        </p:nvSpPr>
        <p:spPr>
          <a:xfrm>
            <a:off x="7296912" y="1828800"/>
            <a:ext cx="2066543" cy="420624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525512" y="2103120"/>
            <a:ext cx="548640" cy="54864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20" name="TextBox 19"/>
          <p:cNvSpPr txBox="1"/>
          <p:nvPr/>
        </p:nvSpPr>
        <p:spPr>
          <a:xfrm>
            <a:off x="7525512" y="2834640"/>
            <a:ext cx="1691640" cy="10972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Writing deepens understanding</a:t>
            </a:r>
          </a:p>
        </p:txBody>
      </p:sp>
      <p:sp>
        <p:nvSpPr>
          <p:cNvPr id="21" name="TextBox 20"/>
          <p:cNvSpPr txBox="1"/>
          <p:nvPr/>
        </p:nvSpPr>
        <p:spPr>
          <a:xfrm>
            <a:off x="7525512" y="4023360"/>
            <a:ext cx="1691640" cy="182880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Weekly reflections turn concepts into specific theory updates.</a:t>
            </a:r>
          </a:p>
        </p:txBody>
      </p:sp>
      <p:sp>
        <p:nvSpPr>
          <p:cNvPr id="22" name="Rounded Rectangle 21"/>
          <p:cNvSpPr/>
          <p:nvPr/>
        </p:nvSpPr>
        <p:spPr>
          <a:xfrm>
            <a:off x="9546336" y="1828800"/>
            <a:ext cx="2066543" cy="420624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774936" y="2103120"/>
            <a:ext cx="548640" cy="54864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4" name="TextBox 23"/>
          <p:cNvSpPr txBox="1"/>
          <p:nvPr/>
        </p:nvSpPr>
        <p:spPr>
          <a:xfrm>
            <a:off x="9774936" y="2834640"/>
            <a:ext cx="1691640" cy="10972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People come first</a:t>
            </a:r>
          </a:p>
        </p:txBody>
      </p:sp>
      <p:sp>
        <p:nvSpPr>
          <p:cNvPr id="25" name="TextBox 24"/>
          <p:cNvSpPr txBox="1"/>
          <p:nvPr/>
        </p:nvSpPr>
        <p:spPr>
          <a:xfrm>
            <a:off x="9774936" y="4023360"/>
            <a:ext cx="1691640" cy="1828800"/>
          </a:xfrm>
          <a:prstGeom prst="rect">
            <a:avLst/>
          </a:prstGeom>
          <a:noFill/>
        </p:spPr>
        <p:txBody>
          <a:bodyPr wrap="square" anchor="t" lIns="0" rIns="0" tIns="0" bIns="0">
            <a:spAutoFit/>
          </a:bodyPr>
          <a:lstStyle/>
          <a:p>
            <a:pPr algn="l">
              <a:spcAft>
                <a:spcPts val="0"/>
              </a:spcAft>
            </a:pPr>
            <a:r>
              <a:rPr sz="1400" b="0" i="0">
                <a:solidFill>
                  <a:srgbClr val="5B6B70"/>
                </a:solidFill>
                <a:latin typeface="Calibri"/>
              </a:rPr>
              <a:t>Effective, fair, and humane work is the goal; AI is a means.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 · PEDAGOGICAL MODEL</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The weekly cycle</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417319" y="1783080"/>
            <a:ext cx="1554480" cy="1554480"/>
          </a:xfrm>
          <a:prstGeom prst="ellipse">
            <a:avLst/>
          </a:prstGeom>
          <a:solidFill>
            <a:srgbClr val="1F2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Cambria"/>
              </a:rPr>
              <a:t>Learn</a:t>
            </a:r>
          </a:p>
        </p:txBody>
      </p:sp>
      <p:sp>
        <p:nvSpPr>
          <p:cNvPr id="7" name="TextBox 6"/>
          <p:cNvSpPr txBox="1"/>
          <p:nvPr/>
        </p:nvSpPr>
        <p:spPr>
          <a:xfrm>
            <a:off x="548640" y="3611880"/>
            <a:ext cx="3291840" cy="1371600"/>
          </a:xfrm>
          <a:prstGeom prst="rect">
            <a:avLst/>
          </a:prstGeom>
          <a:noFill/>
        </p:spPr>
        <p:txBody>
          <a:bodyPr wrap="square" anchor="t" lIns="0" rIns="0" tIns="0" bIns="0">
            <a:spAutoFit/>
          </a:bodyPr>
          <a:lstStyle/>
          <a:p>
            <a:pPr algn="ctr">
              <a:spcAft>
                <a:spcPts val="0"/>
              </a:spcAft>
            </a:pPr>
            <a:r>
              <a:rPr sz="1700" b="0" i="0">
                <a:solidFill>
                  <a:srgbClr val="1F2A2E"/>
                </a:solidFill>
                <a:latin typeface="Calibri"/>
              </a:rPr>
              <a:t>Read the textbook chapter and the classic article; review core concepts in class.</a:t>
            </a:r>
          </a:p>
        </p:txBody>
      </p:sp>
      <p:sp>
        <p:nvSpPr>
          <p:cNvPr id="8" name="Right Arrow 7"/>
          <p:cNvSpPr/>
          <p:nvPr/>
        </p:nvSpPr>
        <p:spPr>
          <a:xfrm>
            <a:off x="3886200" y="2377440"/>
            <a:ext cx="411480" cy="365760"/>
          </a:xfrm>
          <a:prstGeom prst="rightArrow">
            <a:avLst/>
          </a:prstGeom>
          <a:solidFill>
            <a:srgbClr val="5B6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57800" y="1783080"/>
            <a:ext cx="1554480" cy="155448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Cambria"/>
              </a:rPr>
              <a:t>Question</a:t>
            </a:r>
          </a:p>
        </p:txBody>
      </p:sp>
      <p:sp>
        <p:nvSpPr>
          <p:cNvPr id="10" name="TextBox 9"/>
          <p:cNvSpPr txBox="1"/>
          <p:nvPr/>
        </p:nvSpPr>
        <p:spPr>
          <a:xfrm>
            <a:off x="4389120" y="3611880"/>
            <a:ext cx="3291840" cy="1371600"/>
          </a:xfrm>
          <a:prstGeom prst="rect">
            <a:avLst/>
          </a:prstGeom>
          <a:noFill/>
        </p:spPr>
        <p:txBody>
          <a:bodyPr wrap="square" anchor="t" lIns="0" rIns="0" tIns="0" bIns="0">
            <a:spAutoFit/>
          </a:bodyPr>
          <a:lstStyle/>
          <a:p>
            <a:pPr algn="ctr">
              <a:spcAft>
                <a:spcPts val="0"/>
              </a:spcAft>
            </a:pPr>
            <a:r>
              <a:rPr sz="1700" b="0" i="0">
                <a:solidFill>
                  <a:srgbClr val="1F2A2E"/>
                </a:solidFill>
                <a:latin typeface="Calibri"/>
              </a:rPr>
              <a:t>Read the AI article; identify which assumptions it supports, challenges, or changes.</a:t>
            </a:r>
          </a:p>
        </p:txBody>
      </p:sp>
      <p:sp>
        <p:nvSpPr>
          <p:cNvPr id="11" name="Right Arrow 10"/>
          <p:cNvSpPr/>
          <p:nvPr/>
        </p:nvSpPr>
        <p:spPr>
          <a:xfrm>
            <a:off x="7726679" y="2377440"/>
            <a:ext cx="411480" cy="365760"/>
          </a:xfrm>
          <a:prstGeom prst="rightArrow">
            <a:avLst/>
          </a:prstGeom>
          <a:solidFill>
            <a:srgbClr val="5B6B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98280" y="1783080"/>
            <a:ext cx="1554480" cy="155448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Cambria"/>
              </a:rPr>
              <a:t>Apply</a:t>
            </a:r>
          </a:p>
        </p:txBody>
      </p:sp>
      <p:sp>
        <p:nvSpPr>
          <p:cNvPr id="13" name="TextBox 12"/>
          <p:cNvSpPr txBox="1"/>
          <p:nvPr/>
        </p:nvSpPr>
        <p:spPr>
          <a:xfrm>
            <a:off x="8229600" y="3611880"/>
            <a:ext cx="3291840" cy="1371600"/>
          </a:xfrm>
          <a:prstGeom prst="rect">
            <a:avLst/>
          </a:prstGeom>
          <a:noFill/>
        </p:spPr>
        <p:txBody>
          <a:bodyPr wrap="square" anchor="t" lIns="0" rIns="0" tIns="0" bIns="0">
            <a:spAutoFit/>
          </a:bodyPr>
          <a:lstStyle/>
          <a:p>
            <a:pPr algn="ctr">
              <a:spcAft>
                <a:spcPts val="0"/>
              </a:spcAft>
            </a:pPr>
            <a:r>
              <a:rPr sz="1700" b="0" i="0">
                <a:solidFill>
                  <a:srgbClr val="1F2A2E"/>
                </a:solidFill>
                <a:latin typeface="Calibri"/>
              </a:rPr>
              <a:t>Discuss an HBS case, write a reading reflection, and apply the ideas to the Work Study.</a:t>
            </a:r>
          </a:p>
        </p:txBody>
      </p:sp>
      <p:sp>
        <p:nvSpPr>
          <p:cNvPr id="14" name="TextBox 13"/>
          <p:cNvSpPr txBox="1"/>
          <p:nvPr/>
        </p:nvSpPr>
        <p:spPr>
          <a:xfrm>
            <a:off x="548640" y="5486400"/>
            <a:ext cx="11064240" cy="548640"/>
          </a:xfrm>
          <a:prstGeom prst="rect">
            <a:avLst/>
          </a:prstGeom>
          <a:noFill/>
        </p:spPr>
        <p:txBody>
          <a:bodyPr wrap="square" anchor="t" lIns="0" rIns="0" tIns="0" bIns="0">
            <a:spAutoFit/>
          </a:bodyPr>
          <a:lstStyle/>
          <a:p>
            <a:pPr algn="ctr">
              <a:spcAft>
                <a:spcPts val="0"/>
              </a:spcAft>
            </a:pPr>
            <a:r>
              <a:rPr sz="1500" b="0" i="1">
                <a:solidFill>
                  <a:srgbClr val="5B6B70"/>
                </a:solidFill>
                <a:latin typeface="Calibri"/>
              </a:rPr>
              <a:t>Week 1 introduces the course and the JKD Framework. Paired readings begin in Week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 · COURSE FOUNDATIONS</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Signature learning experiences</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783080"/>
            <a:ext cx="3474720" cy="429768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65960"/>
            <a:ext cx="2834640" cy="1188720"/>
          </a:xfrm>
          <a:prstGeom prst="rect">
            <a:avLst/>
          </a:prstGeom>
          <a:noFill/>
        </p:spPr>
        <p:txBody>
          <a:bodyPr wrap="square" anchor="t" lIns="0" rIns="0" tIns="0" bIns="0">
            <a:spAutoFit/>
          </a:bodyPr>
          <a:lstStyle/>
          <a:p>
            <a:pPr algn="l">
              <a:spcAft>
                <a:spcPts val="0"/>
              </a:spcAft>
            </a:pPr>
            <a:r>
              <a:rPr sz="7200" b="1" i="0">
                <a:solidFill>
                  <a:srgbClr val="2E8B7A"/>
                </a:solidFill>
                <a:latin typeface="Cambria"/>
              </a:rPr>
              <a:t>9</a:t>
            </a:r>
          </a:p>
        </p:txBody>
      </p:sp>
      <p:sp>
        <p:nvSpPr>
          <p:cNvPr id="8" name="TextBox 7"/>
          <p:cNvSpPr txBox="1"/>
          <p:nvPr/>
        </p:nvSpPr>
        <p:spPr>
          <a:xfrm>
            <a:off x="868680" y="3291840"/>
            <a:ext cx="2834640" cy="82296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Weekly reading reflections</a:t>
            </a:r>
          </a:p>
        </p:txBody>
      </p:sp>
      <p:sp>
        <p:nvSpPr>
          <p:cNvPr id="9" name="TextBox 8"/>
          <p:cNvSpPr txBox="1"/>
          <p:nvPr/>
        </p:nvSpPr>
        <p:spPr>
          <a:xfrm>
            <a:off x="868680" y="4160520"/>
            <a:ext cx="2834640" cy="1737360"/>
          </a:xfrm>
          <a:prstGeom prst="rect">
            <a:avLst/>
          </a:prstGeom>
          <a:noFill/>
        </p:spPr>
        <p:txBody>
          <a:bodyPr wrap="square" anchor="t" lIns="0" rIns="0" tIns="0" bIns="0">
            <a:spAutoFit/>
          </a:bodyPr>
          <a:lstStyle/>
          <a:p>
            <a:pPr algn="l">
              <a:spcAft>
                <a:spcPts val="0"/>
              </a:spcAft>
            </a:pPr>
            <a:r>
              <a:rPr sz="1500" b="0" i="0">
                <a:solidFill>
                  <a:srgbClr val="5B6B70"/>
                </a:solidFill>
                <a:latin typeface="Calibri"/>
              </a:rPr>
              <a:t>One each week from Week 2 to 10, ending with an OB Theory Update. Best 8 of 9 count.</a:t>
            </a:r>
          </a:p>
        </p:txBody>
      </p:sp>
      <p:sp>
        <p:nvSpPr>
          <p:cNvPr id="10" name="Rounded Rectangle 9"/>
          <p:cNvSpPr/>
          <p:nvPr/>
        </p:nvSpPr>
        <p:spPr>
          <a:xfrm>
            <a:off x="4297679" y="1783080"/>
            <a:ext cx="3474720" cy="429768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17719" y="1965960"/>
            <a:ext cx="2834640" cy="1188720"/>
          </a:xfrm>
          <a:prstGeom prst="rect">
            <a:avLst/>
          </a:prstGeom>
          <a:noFill/>
        </p:spPr>
        <p:txBody>
          <a:bodyPr wrap="square" anchor="t" lIns="0" rIns="0" tIns="0" bIns="0">
            <a:spAutoFit/>
          </a:bodyPr>
          <a:lstStyle/>
          <a:p>
            <a:pPr algn="l">
              <a:spcAft>
                <a:spcPts val="0"/>
              </a:spcAft>
            </a:pPr>
            <a:r>
              <a:rPr sz="7200" b="1" i="0">
                <a:solidFill>
                  <a:srgbClr val="D9694A"/>
                </a:solidFill>
                <a:latin typeface="Cambria"/>
              </a:rPr>
              <a:t>3</a:t>
            </a:r>
          </a:p>
        </p:txBody>
      </p:sp>
      <p:sp>
        <p:nvSpPr>
          <p:cNvPr id="12" name="TextBox 11"/>
          <p:cNvSpPr txBox="1"/>
          <p:nvPr/>
        </p:nvSpPr>
        <p:spPr>
          <a:xfrm>
            <a:off x="4617719" y="3291840"/>
            <a:ext cx="2834640" cy="82296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Levels in the Human–AI Work Study</a:t>
            </a:r>
          </a:p>
        </p:txBody>
      </p:sp>
      <p:sp>
        <p:nvSpPr>
          <p:cNvPr id="13" name="TextBox 12"/>
          <p:cNvSpPr txBox="1"/>
          <p:nvPr/>
        </p:nvSpPr>
        <p:spPr>
          <a:xfrm>
            <a:off x="4617719" y="4160520"/>
            <a:ext cx="2834640" cy="1737360"/>
          </a:xfrm>
          <a:prstGeom prst="rect">
            <a:avLst/>
          </a:prstGeom>
          <a:noFill/>
        </p:spPr>
        <p:txBody>
          <a:bodyPr wrap="square" anchor="t" lIns="0" rIns="0" tIns="0" bIns="0">
            <a:spAutoFit/>
          </a:bodyPr>
          <a:lstStyle/>
          <a:p>
            <a:pPr algn="l">
              <a:spcAft>
                <a:spcPts val="0"/>
              </a:spcAft>
            </a:pPr>
            <a:r>
              <a:rPr sz="1500" b="0" i="0">
                <a:solidFill>
                  <a:srgbClr val="5B6B70"/>
                </a:solidFill>
                <a:latin typeface="Calibri"/>
              </a:rPr>
              <a:t>Teams of three analyze a real organization's human–AI work at the individual, group, and organization levels.</a:t>
            </a:r>
          </a:p>
        </p:txBody>
      </p:sp>
      <p:sp>
        <p:nvSpPr>
          <p:cNvPr id="14" name="Rounded Rectangle 13"/>
          <p:cNvSpPr/>
          <p:nvPr/>
        </p:nvSpPr>
        <p:spPr>
          <a:xfrm>
            <a:off x="8046719" y="1783080"/>
            <a:ext cx="3474720" cy="429768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66759" y="1965960"/>
            <a:ext cx="2834640" cy="1188720"/>
          </a:xfrm>
          <a:prstGeom prst="rect">
            <a:avLst/>
          </a:prstGeom>
          <a:noFill/>
        </p:spPr>
        <p:txBody>
          <a:bodyPr wrap="square" anchor="t" lIns="0" rIns="0" tIns="0" bIns="0">
            <a:spAutoFit/>
          </a:bodyPr>
          <a:lstStyle/>
          <a:p>
            <a:pPr algn="l">
              <a:spcAft>
                <a:spcPts val="0"/>
              </a:spcAft>
            </a:pPr>
            <a:r>
              <a:rPr sz="7200" b="1" i="0">
                <a:solidFill>
                  <a:srgbClr val="C98A1E"/>
                </a:solidFill>
                <a:latin typeface="Cambria"/>
              </a:rPr>
              <a:t>7</a:t>
            </a:r>
          </a:p>
        </p:txBody>
      </p:sp>
      <p:sp>
        <p:nvSpPr>
          <p:cNvPr id="16" name="TextBox 15"/>
          <p:cNvSpPr txBox="1"/>
          <p:nvPr/>
        </p:nvSpPr>
        <p:spPr>
          <a:xfrm>
            <a:off x="8366759" y="3291840"/>
            <a:ext cx="2834640" cy="82296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Harvard Business School cases</a:t>
            </a:r>
          </a:p>
        </p:txBody>
      </p:sp>
      <p:sp>
        <p:nvSpPr>
          <p:cNvPr id="17" name="TextBox 16"/>
          <p:cNvSpPr txBox="1"/>
          <p:nvPr/>
        </p:nvSpPr>
        <p:spPr>
          <a:xfrm>
            <a:off x="8366759" y="4160520"/>
            <a:ext cx="2834640" cy="1737360"/>
          </a:xfrm>
          <a:prstGeom prst="rect">
            <a:avLst/>
          </a:prstGeom>
          <a:noFill/>
        </p:spPr>
        <p:txBody>
          <a:bodyPr wrap="square" anchor="t" lIns="0" rIns="0" tIns="0" bIns="0">
            <a:spAutoFit/>
          </a:bodyPr>
          <a:lstStyle/>
          <a:p>
            <a:pPr algn="l">
              <a:spcAft>
                <a:spcPts val="0"/>
              </a:spcAft>
            </a:pPr>
            <a:r>
              <a:rPr sz="1500" b="0" i="0">
                <a:solidFill>
                  <a:srgbClr val="5B6B70"/>
                </a:solidFill>
                <a:latin typeface="Calibri"/>
              </a:rPr>
              <a:t>From Microsoft's Copilot deployment to JPMorganChase's leadership in the age of GenAI.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 · COURSE FOUNDATIONS</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The mindset that succeeds here</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783080"/>
            <a:ext cx="4754880" cy="4297680"/>
          </a:xfrm>
          <a:prstGeom prst="roundRect">
            <a:avLst>
              <a:gd name="adj" fmla="val 6000"/>
            </a:avLst>
          </a:prstGeom>
          <a:solidFill>
            <a:srgbClr val="1F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194560"/>
            <a:ext cx="4023360" cy="3474720"/>
          </a:xfrm>
          <a:prstGeom prst="rect">
            <a:avLst/>
          </a:prstGeom>
          <a:noFill/>
        </p:spPr>
        <p:txBody>
          <a:bodyPr wrap="square" anchor="t" lIns="0" rIns="0" tIns="0" bIns="0">
            <a:spAutoFit/>
          </a:bodyPr>
          <a:lstStyle/>
          <a:p>
            <a:pPr algn="l">
              <a:spcAft>
                <a:spcPts val="0"/>
              </a:spcAft>
            </a:pPr>
            <a:r>
              <a:rPr sz="6000" b="1" i="0">
                <a:solidFill>
                  <a:srgbClr val="D9694A"/>
                </a:solidFill>
                <a:latin typeface="Cambria"/>
              </a:rPr>
              <a:t>“</a:t>
            </a:r>
          </a:p>
          <a:p>
            <a:pPr algn="l">
              <a:spcAft>
                <a:spcPts val="0"/>
              </a:spcAft>
            </a:pPr>
            <a:r>
              <a:rPr sz="2800" b="1" i="0">
                <a:solidFill>
                  <a:srgbClr val="FFFFFF"/>
                </a:solidFill>
                <a:latin typeface="Cambria"/>
              </a:rPr>
              <a:t>Treat AI as a partner to question, not an authority to obey.</a:t>
            </a:r>
          </a:p>
        </p:txBody>
      </p:sp>
      <p:sp>
        <p:nvSpPr>
          <p:cNvPr id="8" name="Oval 7"/>
          <p:cNvSpPr/>
          <p:nvPr/>
        </p:nvSpPr>
        <p:spPr>
          <a:xfrm>
            <a:off x="5760720" y="1901952"/>
            <a:ext cx="457200" cy="45720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9" name="TextBox 8"/>
          <p:cNvSpPr txBox="1"/>
          <p:nvPr/>
        </p:nvSpPr>
        <p:spPr>
          <a:xfrm>
            <a:off x="6446520" y="1828800"/>
            <a:ext cx="5120640" cy="914400"/>
          </a:xfrm>
          <a:prstGeom prst="rect">
            <a:avLst/>
          </a:prstGeom>
          <a:noFill/>
        </p:spPr>
        <p:txBody>
          <a:bodyPr wrap="square" anchor="ctr" lIns="0" rIns="0" tIns="0" bIns="0">
            <a:spAutoFit/>
          </a:bodyPr>
          <a:lstStyle/>
          <a:p>
            <a:pPr algn="l">
              <a:spcAft>
                <a:spcPts val="0"/>
              </a:spcAft>
            </a:pPr>
            <a:r>
              <a:rPr sz="1800" b="0" i="0">
                <a:solidFill>
                  <a:srgbClr val="1F2A2E"/>
                </a:solidFill>
                <a:latin typeface="Calibri"/>
              </a:rPr>
              <a:t>Come to class prepared to discuss the readings</a:t>
            </a:r>
          </a:p>
        </p:txBody>
      </p:sp>
      <p:sp>
        <p:nvSpPr>
          <p:cNvPr id="10" name="Oval 9"/>
          <p:cNvSpPr/>
          <p:nvPr/>
        </p:nvSpPr>
        <p:spPr>
          <a:xfrm>
            <a:off x="5760720" y="2980944"/>
            <a:ext cx="457200" cy="45720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1" name="TextBox 10"/>
          <p:cNvSpPr txBox="1"/>
          <p:nvPr/>
        </p:nvSpPr>
        <p:spPr>
          <a:xfrm>
            <a:off x="6446520" y="2907791"/>
            <a:ext cx="5120640" cy="914400"/>
          </a:xfrm>
          <a:prstGeom prst="rect">
            <a:avLst/>
          </a:prstGeom>
          <a:noFill/>
        </p:spPr>
        <p:txBody>
          <a:bodyPr wrap="square" anchor="ctr" lIns="0" rIns="0" tIns="0" bIns="0">
            <a:spAutoFit/>
          </a:bodyPr>
          <a:lstStyle/>
          <a:p>
            <a:pPr algn="l">
              <a:spcAft>
                <a:spcPts val="0"/>
              </a:spcAft>
            </a:pPr>
            <a:r>
              <a:rPr sz="1800" b="0" i="0">
                <a:solidFill>
                  <a:srgbClr val="1F2A2E"/>
                </a:solidFill>
                <a:latin typeface="Calibri"/>
              </a:rPr>
              <a:t>Notice your own reactions to AI — trust, doubt, relief, frustration — as data about OB</a:t>
            </a:r>
          </a:p>
        </p:txBody>
      </p:sp>
      <p:sp>
        <p:nvSpPr>
          <p:cNvPr id="12" name="Oval 11"/>
          <p:cNvSpPr/>
          <p:nvPr/>
        </p:nvSpPr>
        <p:spPr>
          <a:xfrm>
            <a:off x="5760720" y="4059935"/>
            <a:ext cx="457200" cy="45720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3" name="TextBox 12"/>
          <p:cNvSpPr txBox="1"/>
          <p:nvPr/>
        </p:nvSpPr>
        <p:spPr>
          <a:xfrm>
            <a:off x="6446520" y="3986783"/>
            <a:ext cx="5120640" cy="914400"/>
          </a:xfrm>
          <a:prstGeom prst="rect">
            <a:avLst/>
          </a:prstGeom>
          <a:noFill/>
        </p:spPr>
        <p:txBody>
          <a:bodyPr wrap="square" anchor="ctr" lIns="0" rIns="0" tIns="0" bIns="0">
            <a:spAutoFit/>
          </a:bodyPr>
          <a:lstStyle/>
          <a:p>
            <a:pPr algn="l">
              <a:spcAft>
                <a:spcPts val="0"/>
              </a:spcAft>
            </a:pPr>
            <a:r>
              <a:rPr sz="1800" b="0" i="0">
                <a:solidFill>
                  <a:srgbClr val="1F2A2E"/>
                </a:solidFill>
                <a:latin typeface="Calibri"/>
              </a:rPr>
              <a:t>Support every claim with evidence</a:t>
            </a:r>
          </a:p>
        </p:txBody>
      </p:sp>
      <p:sp>
        <p:nvSpPr>
          <p:cNvPr id="14" name="Oval 13"/>
          <p:cNvSpPr/>
          <p:nvPr/>
        </p:nvSpPr>
        <p:spPr>
          <a:xfrm>
            <a:off x="5760720" y="5138928"/>
            <a:ext cx="457200" cy="45720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5" name="TextBox 14"/>
          <p:cNvSpPr txBox="1"/>
          <p:nvPr/>
        </p:nvSpPr>
        <p:spPr>
          <a:xfrm>
            <a:off x="6446520" y="5065776"/>
            <a:ext cx="5120640" cy="914400"/>
          </a:xfrm>
          <a:prstGeom prst="rect">
            <a:avLst/>
          </a:prstGeom>
          <a:noFill/>
        </p:spPr>
        <p:txBody>
          <a:bodyPr wrap="square" anchor="ctr" lIns="0" rIns="0" tIns="0" bIns="0">
            <a:spAutoFit/>
          </a:bodyPr>
          <a:lstStyle/>
          <a:p>
            <a:pPr algn="l">
              <a:spcAft>
                <a:spcPts val="0"/>
              </a:spcAft>
            </a:pPr>
            <a:r>
              <a:rPr sz="1800" b="0" i="0">
                <a:solidFill>
                  <a:srgbClr val="1F2A2E"/>
                </a:solidFill>
                <a:latin typeface="Calibri"/>
              </a:rPr>
              <a:t>Treat classmates as collaborators in building knowledge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II · COURSE DESIGN</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The course at a glance</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828800"/>
            <a:ext cx="2103120" cy="1097280"/>
          </a:xfrm>
          <a:prstGeom prst="rect">
            <a:avLst/>
          </a:prstGeom>
          <a:noFill/>
        </p:spPr>
        <p:txBody>
          <a:bodyPr wrap="square" anchor="t" lIns="0" rIns="0" tIns="0" bIns="0">
            <a:spAutoFit/>
          </a:bodyPr>
          <a:lstStyle/>
          <a:p>
            <a:pPr algn="l">
              <a:spcAft>
                <a:spcPts val="0"/>
              </a:spcAft>
            </a:pPr>
            <a:r>
              <a:rPr sz="6000" b="1" i="0">
                <a:solidFill>
                  <a:srgbClr val="2E8B7A"/>
                </a:solidFill>
                <a:latin typeface="Cambria"/>
              </a:rPr>
              <a:t>4</a:t>
            </a:r>
          </a:p>
        </p:txBody>
      </p:sp>
      <p:sp>
        <p:nvSpPr>
          <p:cNvPr id="7" name="TextBox 6"/>
          <p:cNvSpPr txBox="1"/>
          <p:nvPr/>
        </p:nvSpPr>
        <p:spPr>
          <a:xfrm>
            <a:off x="548640" y="2926080"/>
            <a:ext cx="2011680" cy="731520"/>
          </a:xfrm>
          <a:prstGeom prst="rect">
            <a:avLst/>
          </a:prstGeom>
          <a:noFill/>
        </p:spPr>
        <p:txBody>
          <a:bodyPr wrap="square" anchor="t" lIns="0" rIns="0" tIns="0" bIns="0">
            <a:spAutoFit/>
          </a:bodyPr>
          <a:lstStyle/>
          <a:p>
            <a:pPr algn="l">
              <a:spcAft>
                <a:spcPts val="0"/>
              </a:spcAft>
            </a:pPr>
            <a:r>
              <a:rPr sz="1600" b="0" i="0">
                <a:solidFill>
                  <a:srgbClr val="5B6B70"/>
                </a:solidFill>
                <a:latin typeface="Calibri"/>
              </a:rPr>
              <a:t>credits</a:t>
            </a:r>
          </a:p>
        </p:txBody>
      </p:sp>
      <p:sp>
        <p:nvSpPr>
          <p:cNvPr id="8" name="TextBox 7"/>
          <p:cNvSpPr txBox="1"/>
          <p:nvPr/>
        </p:nvSpPr>
        <p:spPr>
          <a:xfrm>
            <a:off x="2798064" y="1828800"/>
            <a:ext cx="2103120" cy="1097280"/>
          </a:xfrm>
          <a:prstGeom prst="rect">
            <a:avLst/>
          </a:prstGeom>
          <a:noFill/>
        </p:spPr>
        <p:txBody>
          <a:bodyPr wrap="square" anchor="t" lIns="0" rIns="0" tIns="0" bIns="0">
            <a:spAutoFit/>
          </a:bodyPr>
          <a:lstStyle/>
          <a:p>
            <a:pPr algn="l">
              <a:spcAft>
                <a:spcPts val="0"/>
              </a:spcAft>
            </a:pPr>
            <a:r>
              <a:rPr sz="6000" b="1" i="0">
                <a:solidFill>
                  <a:srgbClr val="D9694A"/>
                </a:solidFill>
                <a:latin typeface="Cambria"/>
              </a:rPr>
              <a:t>10</a:t>
            </a:r>
          </a:p>
        </p:txBody>
      </p:sp>
      <p:sp>
        <p:nvSpPr>
          <p:cNvPr id="9" name="TextBox 8"/>
          <p:cNvSpPr txBox="1"/>
          <p:nvPr/>
        </p:nvSpPr>
        <p:spPr>
          <a:xfrm>
            <a:off x="2798064" y="2926080"/>
            <a:ext cx="2011680" cy="731520"/>
          </a:xfrm>
          <a:prstGeom prst="rect">
            <a:avLst/>
          </a:prstGeom>
          <a:noFill/>
        </p:spPr>
        <p:txBody>
          <a:bodyPr wrap="square" anchor="t" lIns="0" rIns="0" tIns="0" bIns="0">
            <a:spAutoFit/>
          </a:bodyPr>
          <a:lstStyle/>
          <a:p>
            <a:pPr algn="l">
              <a:spcAft>
                <a:spcPts val="0"/>
              </a:spcAft>
            </a:pPr>
            <a:r>
              <a:rPr sz="1600" b="0" i="0">
                <a:solidFill>
                  <a:srgbClr val="5B6B70"/>
                </a:solidFill>
                <a:latin typeface="Calibri"/>
              </a:rPr>
              <a:t>weeks, plus finals week</a:t>
            </a:r>
          </a:p>
        </p:txBody>
      </p:sp>
      <p:sp>
        <p:nvSpPr>
          <p:cNvPr id="10" name="TextBox 9"/>
          <p:cNvSpPr txBox="1"/>
          <p:nvPr/>
        </p:nvSpPr>
        <p:spPr>
          <a:xfrm>
            <a:off x="5047488" y="1828800"/>
            <a:ext cx="2103120" cy="1097280"/>
          </a:xfrm>
          <a:prstGeom prst="rect">
            <a:avLst/>
          </a:prstGeom>
          <a:noFill/>
        </p:spPr>
        <p:txBody>
          <a:bodyPr wrap="square" anchor="t" lIns="0" rIns="0" tIns="0" bIns="0">
            <a:spAutoFit/>
          </a:bodyPr>
          <a:lstStyle/>
          <a:p>
            <a:pPr algn="l">
              <a:spcAft>
                <a:spcPts val="0"/>
              </a:spcAft>
            </a:pPr>
            <a:r>
              <a:rPr sz="6000" b="1" i="0">
                <a:solidFill>
                  <a:srgbClr val="C98A1E"/>
                </a:solidFill>
                <a:latin typeface="Cambria"/>
              </a:rPr>
              <a:t>9</a:t>
            </a:r>
          </a:p>
        </p:txBody>
      </p:sp>
      <p:sp>
        <p:nvSpPr>
          <p:cNvPr id="11" name="TextBox 10"/>
          <p:cNvSpPr txBox="1"/>
          <p:nvPr/>
        </p:nvSpPr>
        <p:spPr>
          <a:xfrm>
            <a:off x="5047488" y="2926080"/>
            <a:ext cx="2011680" cy="731520"/>
          </a:xfrm>
          <a:prstGeom prst="rect">
            <a:avLst/>
          </a:prstGeom>
          <a:noFill/>
        </p:spPr>
        <p:txBody>
          <a:bodyPr wrap="square" anchor="t" lIns="0" rIns="0" tIns="0" bIns="0">
            <a:spAutoFit/>
          </a:bodyPr>
          <a:lstStyle/>
          <a:p>
            <a:pPr algn="l">
              <a:spcAft>
                <a:spcPts val="0"/>
              </a:spcAft>
            </a:pPr>
            <a:r>
              <a:rPr sz="1600" b="0" i="0">
                <a:solidFill>
                  <a:srgbClr val="5B6B70"/>
                </a:solidFill>
                <a:latin typeface="Calibri"/>
              </a:rPr>
              <a:t>reading reflections</a:t>
            </a:r>
          </a:p>
        </p:txBody>
      </p:sp>
      <p:sp>
        <p:nvSpPr>
          <p:cNvPr id="12" name="TextBox 11"/>
          <p:cNvSpPr txBox="1"/>
          <p:nvPr/>
        </p:nvSpPr>
        <p:spPr>
          <a:xfrm>
            <a:off x="7296912" y="1828800"/>
            <a:ext cx="2103120" cy="1097280"/>
          </a:xfrm>
          <a:prstGeom prst="rect">
            <a:avLst/>
          </a:prstGeom>
          <a:noFill/>
        </p:spPr>
        <p:txBody>
          <a:bodyPr wrap="square" anchor="t" lIns="0" rIns="0" tIns="0" bIns="0">
            <a:spAutoFit/>
          </a:bodyPr>
          <a:lstStyle/>
          <a:p>
            <a:pPr algn="l">
              <a:spcAft>
                <a:spcPts val="0"/>
              </a:spcAft>
            </a:pPr>
            <a:r>
              <a:rPr sz="6000" b="1" i="0">
                <a:solidFill>
                  <a:srgbClr val="2E8B7A"/>
                </a:solidFill>
                <a:latin typeface="Cambria"/>
              </a:rPr>
              <a:t>7</a:t>
            </a:r>
          </a:p>
        </p:txBody>
      </p:sp>
      <p:sp>
        <p:nvSpPr>
          <p:cNvPr id="13" name="TextBox 12"/>
          <p:cNvSpPr txBox="1"/>
          <p:nvPr/>
        </p:nvSpPr>
        <p:spPr>
          <a:xfrm>
            <a:off x="7296912" y="2926080"/>
            <a:ext cx="2011680" cy="731520"/>
          </a:xfrm>
          <a:prstGeom prst="rect">
            <a:avLst/>
          </a:prstGeom>
          <a:noFill/>
        </p:spPr>
        <p:txBody>
          <a:bodyPr wrap="square" anchor="t" lIns="0" rIns="0" tIns="0" bIns="0">
            <a:spAutoFit/>
          </a:bodyPr>
          <a:lstStyle/>
          <a:p>
            <a:pPr algn="l">
              <a:spcAft>
                <a:spcPts val="0"/>
              </a:spcAft>
            </a:pPr>
            <a:r>
              <a:rPr sz="1600" b="0" i="0">
                <a:solidFill>
                  <a:srgbClr val="5B6B70"/>
                </a:solidFill>
                <a:latin typeface="Calibri"/>
              </a:rPr>
              <a:t>HBS cases</a:t>
            </a:r>
          </a:p>
        </p:txBody>
      </p:sp>
      <p:sp>
        <p:nvSpPr>
          <p:cNvPr id="14" name="TextBox 13"/>
          <p:cNvSpPr txBox="1"/>
          <p:nvPr/>
        </p:nvSpPr>
        <p:spPr>
          <a:xfrm>
            <a:off x="9546336" y="1828800"/>
            <a:ext cx="2103120" cy="1097280"/>
          </a:xfrm>
          <a:prstGeom prst="rect">
            <a:avLst/>
          </a:prstGeom>
          <a:noFill/>
        </p:spPr>
        <p:txBody>
          <a:bodyPr wrap="square" anchor="t" lIns="0" rIns="0" tIns="0" bIns="0">
            <a:spAutoFit/>
          </a:bodyPr>
          <a:lstStyle/>
          <a:p>
            <a:pPr algn="l">
              <a:spcAft>
                <a:spcPts val="0"/>
              </a:spcAft>
            </a:pPr>
            <a:r>
              <a:rPr sz="6000" b="1" i="0">
                <a:solidFill>
                  <a:srgbClr val="D9694A"/>
                </a:solidFill>
                <a:latin typeface="Cambria"/>
              </a:rPr>
              <a:t>3</a:t>
            </a:r>
          </a:p>
        </p:txBody>
      </p:sp>
      <p:sp>
        <p:nvSpPr>
          <p:cNvPr id="15" name="TextBox 14"/>
          <p:cNvSpPr txBox="1"/>
          <p:nvPr/>
        </p:nvSpPr>
        <p:spPr>
          <a:xfrm>
            <a:off x="9546336" y="2926080"/>
            <a:ext cx="2011680" cy="731520"/>
          </a:xfrm>
          <a:prstGeom prst="rect">
            <a:avLst/>
          </a:prstGeom>
          <a:noFill/>
        </p:spPr>
        <p:txBody>
          <a:bodyPr wrap="square" anchor="t" lIns="0" rIns="0" tIns="0" bIns="0">
            <a:spAutoFit/>
          </a:bodyPr>
          <a:lstStyle/>
          <a:p>
            <a:pPr algn="l">
              <a:spcAft>
                <a:spcPts val="0"/>
              </a:spcAft>
            </a:pPr>
            <a:r>
              <a:rPr sz="1600" b="0" i="0">
                <a:solidFill>
                  <a:srgbClr val="5B6B70"/>
                </a:solidFill>
                <a:latin typeface="Calibri"/>
              </a:rPr>
              <a:t>levels of analysis</a:t>
            </a:r>
          </a:p>
        </p:txBody>
      </p:sp>
      <p:sp>
        <p:nvSpPr>
          <p:cNvPr id="16" name="Rounded Rectangle 15"/>
          <p:cNvSpPr/>
          <p:nvPr/>
        </p:nvSpPr>
        <p:spPr>
          <a:xfrm>
            <a:off x="548640" y="4023360"/>
            <a:ext cx="11064240" cy="201168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4251960"/>
            <a:ext cx="10424160" cy="1645920"/>
          </a:xfrm>
          <a:prstGeom prst="rect">
            <a:avLst/>
          </a:prstGeom>
          <a:noFill/>
        </p:spPr>
        <p:txBody>
          <a:bodyPr wrap="square" anchor="t" lIns="0" rIns="0" tIns="0" bIns="0">
            <a:spAutoFit/>
          </a:bodyPr>
          <a:lstStyle/>
          <a:p>
            <a:pPr algn="l">
              <a:spcAft>
                <a:spcPts val="1000"/>
              </a:spcAft>
            </a:pPr>
            <a:r>
              <a:rPr sz="1700" b="1" i="0">
                <a:solidFill>
                  <a:srgbClr val="1F2A2E"/>
                </a:solidFill>
                <a:latin typeface="Calibri"/>
              </a:rPr>
              <a:t>MGMT-205 Organizational Behavior</a:t>
            </a:r>
            <a:r>
              <a:rPr sz="1700" b="0" i="0">
                <a:solidFill>
                  <a:srgbClr val="1F2A2E"/>
                </a:solidFill>
                <a:latin typeface="Calibri"/>
              </a:rPr>
              <a:t>  ·  Prerequisite MGMT-104  ·  In person</a:t>
            </a:r>
          </a:p>
          <a:p>
            <a:pPr algn="l">
              <a:spcAft>
                <a:spcPts val="1000"/>
              </a:spcAft>
            </a:pPr>
            <a:r>
              <a:rPr sz="1700" b="0" i="0">
                <a:solidFill>
                  <a:srgbClr val="1F2A2E"/>
                </a:solidFill>
                <a:latin typeface="Calibri"/>
              </a:rPr>
              <a:t>Monday and Thursday, 10:15 A.M.–12:20 P.M.  ·  AB 3336</a:t>
            </a:r>
          </a:p>
          <a:p>
            <a:pPr algn="l">
              <a:spcAft>
                <a:spcPts val="1000"/>
              </a:spcAft>
            </a:pPr>
            <a:r>
              <a:rPr sz="1700" b="1" i="0">
                <a:solidFill>
                  <a:srgbClr val="1F2A2E"/>
                </a:solidFill>
                <a:latin typeface="Calibri"/>
              </a:rPr>
              <a:t>Textbook: </a:t>
            </a:r>
            <a:r>
              <a:rPr sz="1700" b="0" i="0">
                <a:solidFill>
                  <a:srgbClr val="1F2A2E"/>
                </a:solidFill>
                <a:latin typeface="Calibri"/>
              </a:rPr>
              <a:t>Hitt, Miller, Colella, and Triana, </a:t>
            </a:r>
            <a:r>
              <a:rPr sz="1700" b="0" i="1">
                <a:solidFill>
                  <a:srgbClr val="1F2A2E"/>
                </a:solidFill>
                <a:latin typeface="Calibri"/>
              </a:rPr>
              <a:t>Organizational Behavior</a:t>
            </a:r>
            <a:r>
              <a:rPr sz="1700" b="0" i="0">
                <a:solidFill>
                  <a:srgbClr val="1F2A2E"/>
                </a:solidFill>
                <a:latin typeface="Calibri"/>
              </a:rPr>
              <a:t> (5th ed.), Wiley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II · COURSE DESIGN</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Course learning outcomes</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783080"/>
            <a:ext cx="5440680" cy="12801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2130552"/>
            <a:ext cx="594360" cy="59436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8" name="TextBox 7"/>
          <p:cNvSpPr txBox="1"/>
          <p:nvPr/>
        </p:nvSpPr>
        <p:spPr>
          <a:xfrm>
            <a:off x="1554480" y="1920240"/>
            <a:ext cx="4251960" cy="77724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Explain core OB concepts at the individual, group, and organizational levels.</a:t>
            </a:r>
          </a:p>
        </p:txBody>
      </p:sp>
      <p:sp>
        <p:nvSpPr>
          <p:cNvPr id="9" name="TextBox 8"/>
          <p:cNvSpPr txBox="1"/>
          <p:nvPr/>
        </p:nvSpPr>
        <p:spPr>
          <a:xfrm>
            <a:off x="1554480" y="2679191"/>
            <a:ext cx="4251960" cy="320040"/>
          </a:xfrm>
          <a:prstGeom prst="rect">
            <a:avLst/>
          </a:prstGeom>
          <a:noFill/>
        </p:spPr>
        <p:txBody>
          <a:bodyPr wrap="square" anchor="t" lIns="0" rIns="0" tIns="0" bIns="0">
            <a:spAutoFit/>
          </a:bodyPr>
          <a:lstStyle/>
          <a:p>
            <a:pPr algn="l">
              <a:spcAft>
                <a:spcPts val="0"/>
              </a:spcAft>
            </a:pPr>
            <a:r>
              <a:rPr sz="1100" b="1" i="0">
                <a:solidFill>
                  <a:srgbClr val="5B6B70"/>
                </a:solidFill>
                <a:latin typeface="Calibri"/>
              </a:rPr>
              <a:t>UNDERSTAND</a:t>
            </a:r>
          </a:p>
        </p:txBody>
      </p:sp>
      <p:sp>
        <p:nvSpPr>
          <p:cNvPr id="10" name="Rounded Rectangle 9"/>
          <p:cNvSpPr/>
          <p:nvPr/>
        </p:nvSpPr>
        <p:spPr>
          <a:xfrm>
            <a:off x="6172200" y="1783080"/>
            <a:ext cx="5440680" cy="12801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00800" y="2130552"/>
            <a:ext cx="594360" cy="59436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2" name="TextBox 11"/>
          <p:cNvSpPr txBox="1"/>
          <p:nvPr/>
        </p:nvSpPr>
        <p:spPr>
          <a:xfrm>
            <a:off x="7178040" y="1920240"/>
            <a:ext cx="4251960" cy="77724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Apply OB theories to analyze how people and AI jointly develop knowledge and make decisions.</a:t>
            </a:r>
          </a:p>
        </p:txBody>
      </p:sp>
      <p:sp>
        <p:nvSpPr>
          <p:cNvPr id="13" name="TextBox 12"/>
          <p:cNvSpPr txBox="1"/>
          <p:nvPr/>
        </p:nvSpPr>
        <p:spPr>
          <a:xfrm>
            <a:off x="7178040" y="2679191"/>
            <a:ext cx="4251960" cy="320040"/>
          </a:xfrm>
          <a:prstGeom prst="rect">
            <a:avLst/>
          </a:prstGeom>
          <a:noFill/>
        </p:spPr>
        <p:txBody>
          <a:bodyPr wrap="square" anchor="t" lIns="0" rIns="0" tIns="0" bIns="0">
            <a:spAutoFit/>
          </a:bodyPr>
          <a:lstStyle/>
          <a:p>
            <a:pPr algn="l">
              <a:spcAft>
                <a:spcPts val="0"/>
              </a:spcAft>
            </a:pPr>
            <a:r>
              <a:rPr sz="1100" b="1" i="0">
                <a:solidFill>
                  <a:srgbClr val="5B6B70"/>
                </a:solidFill>
                <a:latin typeface="Calibri"/>
              </a:rPr>
              <a:t>APPLY / ANALYZE</a:t>
            </a:r>
          </a:p>
        </p:txBody>
      </p:sp>
      <p:sp>
        <p:nvSpPr>
          <p:cNvPr id="14" name="Rounded Rectangle 13"/>
          <p:cNvSpPr/>
          <p:nvPr/>
        </p:nvSpPr>
        <p:spPr>
          <a:xfrm>
            <a:off x="548640" y="3246120"/>
            <a:ext cx="5440680" cy="12801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3593591"/>
            <a:ext cx="594360" cy="59436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TextBox 15"/>
          <p:cNvSpPr txBox="1"/>
          <p:nvPr/>
        </p:nvSpPr>
        <p:spPr>
          <a:xfrm>
            <a:off x="1554480" y="3383279"/>
            <a:ext cx="4251960" cy="77724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Analyze how human–AI collaboration supports, challenges, or changes classic OB assumptions.</a:t>
            </a:r>
          </a:p>
        </p:txBody>
      </p:sp>
      <p:sp>
        <p:nvSpPr>
          <p:cNvPr id="17" name="TextBox 16"/>
          <p:cNvSpPr txBox="1"/>
          <p:nvPr/>
        </p:nvSpPr>
        <p:spPr>
          <a:xfrm>
            <a:off x="1554480" y="4142231"/>
            <a:ext cx="4251960" cy="320040"/>
          </a:xfrm>
          <a:prstGeom prst="rect">
            <a:avLst/>
          </a:prstGeom>
          <a:noFill/>
        </p:spPr>
        <p:txBody>
          <a:bodyPr wrap="square" anchor="t" lIns="0" rIns="0" tIns="0" bIns="0">
            <a:spAutoFit/>
          </a:bodyPr>
          <a:lstStyle/>
          <a:p>
            <a:pPr algn="l">
              <a:spcAft>
                <a:spcPts val="0"/>
              </a:spcAft>
            </a:pPr>
            <a:r>
              <a:rPr sz="1100" b="1" i="0">
                <a:solidFill>
                  <a:srgbClr val="5B6B70"/>
                </a:solidFill>
                <a:latin typeface="Calibri"/>
              </a:rPr>
              <a:t>ANALYZE</a:t>
            </a:r>
          </a:p>
        </p:txBody>
      </p:sp>
      <p:sp>
        <p:nvSpPr>
          <p:cNvPr id="18" name="Rounded Rectangle 17"/>
          <p:cNvSpPr/>
          <p:nvPr/>
        </p:nvSpPr>
        <p:spPr>
          <a:xfrm>
            <a:off x="6172200" y="3246120"/>
            <a:ext cx="5440680" cy="12801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00800" y="3593591"/>
            <a:ext cx="594360" cy="59436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0" name="TextBox 19"/>
          <p:cNvSpPr txBox="1"/>
          <p:nvPr/>
        </p:nvSpPr>
        <p:spPr>
          <a:xfrm>
            <a:off x="7178040" y="3383279"/>
            <a:ext cx="4251960" cy="77724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Evaluate fairness, inclusion, accountability, and well-being implications of AI at work.</a:t>
            </a:r>
          </a:p>
        </p:txBody>
      </p:sp>
      <p:sp>
        <p:nvSpPr>
          <p:cNvPr id="21" name="TextBox 20"/>
          <p:cNvSpPr txBox="1"/>
          <p:nvPr/>
        </p:nvSpPr>
        <p:spPr>
          <a:xfrm>
            <a:off x="7178040" y="4142231"/>
            <a:ext cx="4251960" cy="320040"/>
          </a:xfrm>
          <a:prstGeom prst="rect">
            <a:avLst/>
          </a:prstGeom>
          <a:noFill/>
        </p:spPr>
        <p:txBody>
          <a:bodyPr wrap="square" anchor="t" lIns="0" rIns="0" tIns="0" bIns="0">
            <a:spAutoFit/>
          </a:bodyPr>
          <a:lstStyle/>
          <a:p>
            <a:pPr algn="l">
              <a:spcAft>
                <a:spcPts val="0"/>
              </a:spcAft>
            </a:pPr>
            <a:r>
              <a:rPr sz="1100" b="1" i="0">
                <a:solidFill>
                  <a:srgbClr val="5B6B70"/>
                </a:solidFill>
                <a:latin typeface="Calibri"/>
              </a:rPr>
              <a:t>EVALUATE</a:t>
            </a:r>
          </a:p>
        </p:txBody>
      </p:sp>
      <p:sp>
        <p:nvSpPr>
          <p:cNvPr id="22" name="Rounded Rectangle 21"/>
          <p:cNvSpPr/>
          <p:nvPr/>
        </p:nvSpPr>
        <p:spPr>
          <a:xfrm>
            <a:off x="548640" y="4709160"/>
            <a:ext cx="5440680" cy="12801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5056632"/>
            <a:ext cx="594360" cy="59436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4" name="TextBox 23"/>
          <p:cNvSpPr txBox="1"/>
          <p:nvPr/>
        </p:nvSpPr>
        <p:spPr>
          <a:xfrm>
            <a:off x="1554480" y="4846320"/>
            <a:ext cx="4251960" cy="77724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Use AI responsibly as a learning partner and reflect on how it influences your judgment.</a:t>
            </a:r>
          </a:p>
        </p:txBody>
      </p:sp>
      <p:sp>
        <p:nvSpPr>
          <p:cNvPr id="25" name="TextBox 24"/>
          <p:cNvSpPr txBox="1"/>
          <p:nvPr/>
        </p:nvSpPr>
        <p:spPr>
          <a:xfrm>
            <a:off x="1554480" y="5605272"/>
            <a:ext cx="4251960" cy="320040"/>
          </a:xfrm>
          <a:prstGeom prst="rect">
            <a:avLst/>
          </a:prstGeom>
          <a:noFill/>
        </p:spPr>
        <p:txBody>
          <a:bodyPr wrap="square" anchor="t" lIns="0" rIns="0" tIns="0" bIns="0">
            <a:spAutoFit/>
          </a:bodyPr>
          <a:lstStyle/>
          <a:p>
            <a:pPr algn="l">
              <a:spcAft>
                <a:spcPts val="0"/>
              </a:spcAft>
            </a:pPr>
            <a:r>
              <a:rPr sz="1100" b="1" i="0">
                <a:solidFill>
                  <a:srgbClr val="5B6B70"/>
                </a:solidFill>
                <a:latin typeface="Calibri"/>
              </a:rPr>
              <a:t>APPLY / EVALUATE</a:t>
            </a:r>
          </a:p>
        </p:txBody>
      </p:sp>
      <p:sp>
        <p:nvSpPr>
          <p:cNvPr id="26" name="Rounded Rectangle 25"/>
          <p:cNvSpPr/>
          <p:nvPr/>
        </p:nvSpPr>
        <p:spPr>
          <a:xfrm>
            <a:off x="6172200" y="4709160"/>
            <a:ext cx="5440680" cy="12801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400800" y="5056632"/>
            <a:ext cx="594360" cy="59436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28" name="TextBox 27"/>
          <p:cNvSpPr txBox="1"/>
          <p:nvPr/>
        </p:nvSpPr>
        <p:spPr>
          <a:xfrm>
            <a:off x="7178040" y="4846320"/>
            <a:ext cx="4251960" cy="77724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Communicate evidence-based recommendations for human–AI work design as a team.</a:t>
            </a:r>
          </a:p>
        </p:txBody>
      </p:sp>
      <p:sp>
        <p:nvSpPr>
          <p:cNvPr id="29" name="TextBox 28"/>
          <p:cNvSpPr txBox="1"/>
          <p:nvPr/>
        </p:nvSpPr>
        <p:spPr>
          <a:xfrm>
            <a:off x="7178040" y="5605272"/>
            <a:ext cx="4251960" cy="320040"/>
          </a:xfrm>
          <a:prstGeom prst="rect">
            <a:avLst/>
          </a:prstGeom>
          <a:noFill/>
        </p:spPr>
        <p:txBody>
          <a:bodyPr wrap="square" anchor="t" lIns="0" rIns="0" tIns="0" bIns="0">
            <a:spAutoFit/>
          </a:bodyPr>
          <a:lstStyle/>
          <a:p>
            <a:pPr algn="l">
              <a:spcAft>
                <a:spcPts val="0"/>
              </a:spcAft>
            </a:pPr>
            <a:r>
              <a:rPr sz="1100" b="1" i="0">
                <a:solidFill>
                  <a:srgbClr val="5B6B70"/>
                </a:solidFill>
                <a:latin typeface="Calibri"/>
              </a:rPr>
              <a:t>CREATE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II · COURSE DESIGN</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Moving up the levels of analysis</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22960" y="2761488"/>
            <a:ext cx="10515600" cy="54864"/>
          </a:xfrm>
          <a:prstGeom prst="rect">
            <a:avLst/>
          </a:prstGeom>
          <a:solidFill>
            <a:srgbClr val="A8D5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828800"/>
            <a:ext cx="2103120" cy="365760"/>
          </a:xfrm>
          <a:prstGeom prst="rect">
            <a:avLst/>
          </a:prstGeom>
          <a:noFill/>
        </p:spPr>
        <p:txBody>
          <a:bodyPr wrap="square" anchor="t" lIns="0" rIns="0" tIns="0" bIns="0">
            <a:spAutoFit/>
          </a:bodyPr>
          <a:lstStyle/>
          <a:p>
            <a:pPr algn="l">
              <a:spcAft>
                <a:spcPts val="0"/>
              </a:spcAft>
            </a:pPr>
            <a:r>
              <a:rPr sz="1200" b="1" i="0">
                <a:solidFill>
                  <a:srgbClr val="5B6B70"/>
                </a:solidFill>
                <a:latin typeface="Calibri"/>
              </a:rPr>
              <a:t>WEEK 1</a:t>
            </a:r>
          </a:p>
        </p:txBody>
      </p:sp>
      <p:sp>
        <p:nvSpPr>
          <p:cNvPr id="8" name="Oval 7"/>
          <p:cNvSpPr/>
          <p:nvPr/>
        </p:nvSpPr>
        <p:spPr>
          <a:xfrm>
            <a:off x="594360" y="2468880"/>
            <a:ext cx="640080" cy="640080"/>
          </a:xfrm>
          <a:prstGeom prst="ellipse">
            <a:avLst/>
          </a:prstGeom>
          <a:solidFill>
            <a:srgbClr val="1F2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9" name="TextBox 8"/>
          <p:cNvSpPr txBox="1"/>
          <p:nvPr/>
        </p:nvSpPr>
        <p:spPr>
          <a:xfrm>
            <a:off x="548640" y="3383280"/>
            <a:ext cx="2103120" cy="457200"/>
          </a:xfrm>
          <a:prstGeom prst="rect">
            <a:avLst/>
          </a:prstGeom>
          <a:noFill/>
        </p:spPr>
        <p:txBody>
          <a:bodyPr wrap="square" anchor="t" lIns="0" rIns="0" tIns="0" bIns="0">
            <a:spAutoFit/>
          </a:bodyPr>
          <a:lstStyle/>
          <a:p>
            <a:pPr algn="l">
              <a:spcAft>
                <a:spcPts val="0"/>
              </a:spcAft>
            </a:pPr>
            <a:r>
              <a:rPr sz="1900" b="1" i="0">
                <a:solidFill>
                  <a:srgbClr val="1F2A2E"/>
                </a:solidFill>
                <a:latin typeface="Cambria"/>
              </a:rPr>
              <a:t>Foundations</a:t>
            </a:r>
          </a:p>
        </p:txBody>
      </p:sp>
      <p:sp>
        <p:nvSpPr>
          <p:cNvPr id="10" name="TextBox 9"/>
          <p:cNvSpPr txBox="1"/>
          <p:nvPr/>
        </p:nvSpPr>
        <p:spPr>
          <a:xfrm>
            <a:off x="548640" y="3931920"/>
            <a:ext cx="2011680" cy="164592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What does OB assume about who knows and who decides?</a:t>
            </a:r>
          </a:p>
        </p:txBody>
      </p:sp>
      <p:sp>
        <p:nvSpPr>
          <p:cNvPr id="11" name="TextBox 10"/>
          <p:cNvSpPr txBox="1"/>
          <p:nvPr/>
        </p:nvSpPr>
        <p:spPr>
          <a:xfrm>
            <a:off x="2798064" y="1828800"/>
            <a:ext cx="2103120" cy="365760"/>
          </a:xfrm>
          <a:prstGeom prst="rect">
            <a:avLst/>
          </a:prstGeom>
          <a:noFill/>
        </p:spPr>
        <p:txBody>
          <a:bodyPr wrap="square" anchor="t" lIns="0" rIns="0" tIns="0" bIns="0">
            <a:spAutoFit/>
          </a:bodyPr>
          <a:lstStyle/>
          <a:p>
            <a:pPr algn="l">
              <a:spcAft>
                <a:spcPts val="0"/>
              </a:spcAft>
            </a:pPr>
            <a:r>
              <a:rPr sz="1200" b="1" i="0">
                <a:solidFill>
                  <a:srgbClr val="5B6B70"/>
                </a:solidFill>
                <a:latin typeface="Calibri"/>
              </a:rPr>
              <a:t>WEEKS 2–4</a:t>
            </a:r>
          </a:p>
        </p:txBody>
      </p:sp>
      <p:sp>
        <p:nvSpPr>
          <p:cNvPr id="12" name="Oval 11"/>
          <p:cNvSpPr/>
          <p:nvPr/>
        </p:nvSpPr>
        <p:spPr>
          <a:xfrm>
            <a:off x="2843784" y="2468880"/>
            <a:ext cx="640080" cy="64008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3" name="TextBox 12"/>
          <p:cNvSpPr txBox="1"/>
          <p:nvPr/>
        </p:nvSpPr>
        <p:spPr>
          <a:xfrm>
            <a:off x="2798064" y="3383280"/>
            <a:ext cx="2103120" cy="457200"/>
          </a:xfrm>
          <a:prstGeom prst="rect">
            <a:avLst/>
          </a:prstGeom>
          <a:noFill/>
        </p:spPr>
        <p:txBody>
          <a:bodyPr wrap="square" anchor="t" lIns="0" rIns="0" tIns="0" bIns="0">
            <a:spAutoFit/>
          </a:bodyPr>
          <a:lstStyle/>
          <a:p>
            <a:pPr algn="l">
              <a:spcAft>
                <a:spcPts val="0"/>
              </a:spcAft>
            </a:pPr>
            <a:r>
              <a:rPr sz="1900" b="1" i="0">
                <a:solidFill>
                  <a:srgbClr val="2E8B7A"/>
                </a:solidFill>
                <a:latin typeface="Cambria"/>
              </a:rPr>
              <a:t>The Individual</a:t>
            </a:r>
          </a:p>
        </p:txBody>
      </p:sp>
      <p:sp>
        <p:nvSpPr>
          <p:cNvPr id="14" name="TextBox 13"/>
          <p:cNvSpPr txBox="1"/>
          <p:nvPr/>
        </p:nvSpPr>
        <p:spPr>
          <a:xfrm>
            <a:off x="2798064" y="3931920"/>
            <a:ext cx="2011680" cy="164592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How does AI change trust, learning, and motivation?</a:t>
            </a:r>
          </a:p>
        </p:txBody>
      </p:sp>
      <p:sp>
        <p:nvSpPr>
          <p:cNvPr id="15" name="TextBox 14"/>
          <p:cNvSpPr txBox="1"/>
          <p:nvPr/>
        </p:nvSpPr>
        <p:spPr>
          <a:xfrm>
            <a:off x="5047488" y="1828800"/>
            <a:ext cx="2103120" cy="365760"/>
          </a:xfrm>
          <a:prstGeom prst="rect">
            <a:avLst/>
          </a:prstGeom>
          <a:noFill/>
        </p:spPr>
        <p:txBody>
          <a:bodyPr wrap="square" anchor="t" lIns="0" rIns="0" tIns="0" bIns="0">
            <a:spAutoFit/>
          </a:bodyPr>
          <a:lstStyle/>
          <a:p>
            <a:pPr algn="l">
              <a:spcAft>
                <a:spcPts val="0"/>
              </a:spcAft>
            </a:pPr>
            <a:r>
              <a:rPr sz="1200" b="1" i="0">
                <a:solidFill>
                  <a:srgbClr val="5B6B70"/>
                </a:solidFill>
                <a:latin typeface="Calibri"/>
              </a:rPr>
              <a:t>WEEKS 5–7</a:t>
            </a:r>
          </a:p>
        </p:txBody>
      </p:sp>
      <p:sp>
        <p:nvSpPr>
          <p:cNvPr id="16" name="Oval 15"/>
          <p:cNvSpPr/>
          <p:nvPr/>
        </p:nvSpPr>
        <p:spPr>
          <a:xfrm>
            <a:off x="5093207" y="2468880"/>
            <a:ext cx="640080" cy="64008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7" name="TextBox 16"/>
          <p:cNvSpPr txBox="1"/>
          <p:nvPr/>
        </p:nvSpPr>
        <p:spPr>
          <a:xfrm>
            <a:off x="5047488" y="3383280"/>
            <a:ext cx="2103120" cy="457200"/>
          </a:xfrm>
          <a:prstGeom prst="rect">
            <a:avLst/>
          </a:prstGeom>
          <a:noFill/>
        </p:spPr>
        <p:txBody>
          <a:bodyPr wrap="square" anchor="t" lIns="0" rIns="0" tIns="0" bIns="0">
            <a:spAutoFit/>
          </a:bodyPr>
          <a:lstStyle/>
          <a:p>
            <a:pPr algn="l">
              <a:spcAft>
                <a:spcPts val="0"/>
              </a:spcAft>
            </a:pPr>
            <a:r>
              <a:rPr sz="1900" b="1" i="0">
                <a:solidFill>
                  <a:srgbClr val="D9694A"/>
                </a:solidFill>
                <a:latin typeface="Cambria"/>
              </a:rPr>
              <a:t>The Group</a:t>
            </a:r>
          </a:p>
        </p:txBody>
      </p:sp>
      <p:sp>
        <p:nvSpPr>
          <p:cNvPr id="18" name="TextBox 17"/>
          <p:cNvSpPr txBox="1"/>
          <p:nvPr/>
        </p:nvSpPr>
        <p:spPr>
          <a:xfrm>
            <a:off x="5047488" y="3931920"/>
            <a:ext cx="2011680" cy="164592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How does AI change leadership, group decisions, and teams?</a:t>
            </a:r>
          </a:p>
        </p:txBody>
      </p:sp>
      <p:sp>
        <p:nvSpPr>
          <p:cNvPr id="19" name="TextBox 18"/>
          <p:cNvSpPr txBox="1"/>
          <p:nvPr/>
        </p:nvSpPr>
        <p:spPr>
          <a:xfrm>
            <a:off x="7296912" y="1828800"/>
            <a:ext cx="2103120" cy="365760"/>
          </a:xfrm>
          <a:prstGeom prst="rect">
            <a:avLst/>
          </a:prstGeom>
          <a:noFill/>
        </p:spPr>
        <p:txBody>
          <a:bodyPr wrap="square" anchor="t" lIns="0" rIns="0" tIns="0" bIns="0">
            <a:spAutoFit/>
          </a:bodyPr>
          <a:lstStyle/>
          <a:p>
            <a:pPr algn="l">
              <a:spcAft>
                <a:spcPts val="0"/>
              </a:spcAft>
            </a:pPr>
            <a:r>
              <a:rPr sz="1200" b="1" i="0">
                <a:solidFill>
                  <a:srgbClr val="5B6B70"/>
                </a:solidFill>
                <a:latin typeface="Calibri"/>
              </a:rPr>
              <a:t>WEEKS 8–9</a:t>
            </a:r>
          </a:p>
        </p:txBody>
      </p:sp>
      <p:sp>
        <p:nvSpPr>
          <p:cNvPr id="20" name="Oval 19"/>
          <p:cNvSpPr/>
          <p:nvPr/>
        </p:nvSpPr>
        <p:spPr>
          <a:xfrm>
            <a:off x="7342631" y="2468880"/>
            <a:ext cx="640080" cy="64008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21" name="TextBox 20"/>
          <p:cNvSpPr txBox="1"/>
          <p:nvPr/>
        </p:nvSpPr>
        <p:spPr>
          <a:xfrm>
            <a:off x="7296912" y="3383280"/>
            <a:ext cx="2103120" cy="457200"/>
          </a:xfrm>
          <a:prstGeom prst="rect">
            <a:avLst/>
          </a:prstGeom>
          <a:noFill/>
        </p:spPr>
        <p:txBody>
          <a:bodyPr wrap="square" anchor="t" lIns="0" rIns="0" tIns="0" bIns="0">
            <a:spAutoFit/>
          </a:bodyPr>
          <a:lstStyle/>
          <a:p>
            <a:pPr algn="l">
              <a:spcAft>
                <a:spcPts val="0"/>
              </a:spcAft>
            </a:pPr>
            <a:r>
              <a:rPr sz="1900" b="1" i="0">
                <a:solidFill>
                  <a:srgbClr val="C98A1E"/>
                </a:solidFill>
                <a:latin typeface="Cambria"/>
              </a:rPr>
              <a:t>The Organization</a:t>
            </a:r>
          </a:p>
        </p:txBody>
      </p:sp>
      <p:sp>
        <p:nvSpPr>
          <p:cNvPr id="22" name="TextBox 21"/>
          <p:cNvSpPr txBox="1"/>
          <p:nvPr/>
        </p:nvSpPr>
        <p:spPr>
          <a:xfrm>
            <a:off x="7296912" y="3931920"/>
            <a:ext cx="2011680" cy="164592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How does AI change fairness, culture, and learning?</a:t>
            </a:r>
          </a:p>
        </p:txBody>
      </p:sp>
      <p:sp>
        <p:nvSpPr>
          <p:cNvPr id="23" name="TextBox 22"/>
          <p:cNvSpPr txBox="1"/>
          <p:nvPr/>
        </p:nvSpPr>
        <p:spPr>
          <a:xfrm>
            <a:off x="9546336" y="1828800"/>
            <a:ext cx="2103120" cy="365760"/>
          </a:xfrm>
          <a:prstGeom prst="rect">
            <a:avLst/>
          </a:prstGeom>
          <a:noFill/>
        </p:spPr>
        <p:txBody>
          <a:bodyPr wrap="square" anchor="t" lIns="0" rIns="0" tIns="0" bIns="0">
            <a:spAutoFit/>
          </a:bodyPr>
          <a:lstStyle/>
          <a:p>
            <a:pPr algn="l">
              <a:spcAft>
                <a:spcPts val="0"/>
              </a:spcAft>
            </a:pPr>
            <a:r>
              <a:rPr sz="1200" b="1" i="0">
                <a:solidFill>
                  <a:srgbClr val="5B6B70"/>
                </a:solidFill>
                <a:latin typeface="Calibri"/>
              </a:rPr>
              <a:t>WEEKS 10–11</a:t>
            </a:r>
          </a:p>
        </p:txBody>
      </p:sp>
      <p:sp>
        <p:nvSpPr>
          <p:cNvPr id="24" name="Oval 23"/>
          <p:cNvSpPr/>
          <p:nvPr/>
        </p:nvSpPr>
        <p:spPr>
          <a:xfrm>
            <a:off x="9592056" y="2468880"/>
            <a:ext cx="640080" cy="640080"/>
          </a:xfrm>
          <a:prstGeom prst="ellipse">
            <a:avLst/>
          </a:prstGeom>
          <a:solidFill>
            <a:srgbClr val="1F2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5" name="TextBox 24"/>
          <p:cNvSpPr txBox="1"/>
          <p:nvPr/>
        </p:nvSpPr>
        <p:spPr>
          <a:xfrm>
            <a:off x="9546336" y="3383280"/>
            <a:ext cx="2103120" cy="457200"/>
          </a:xfrm>
          <a:prstGeom prst="rect">
            <a:avLst/>
          </a:prstGeom>
          <a:noFill/>
        </p:spPr>
        <p:txBody>
          <a:bodyPr wrap="square" anchor="t" lIns="0" rIns="0" tIns="0" bIns="0">
            <a:spAutoFit/>
          </a:bodyPr>
          <a:lstStyle/>
          <a:p>
            <a:pPr algn="l">
              <a:spcAft>
                <a:spcPts val="0"/>
              </a:spcAft>
            </a:pPr>
            <a:r>
              <a:rPr sz="1900" b="1" i="0">
                <a:solidFill>
                  <a:srgbClr val="1F2A2E"/>
                </a:solidFill>
                <a:latin typeface="Cambria"/>
              </a:rPr>
              <a:t>Integration</a:t>
            </a:r>
          </a:p>
        </p:txBody>
      </p:sp>
      <p:sp>
        <p:nvSpPr>
          <p:cNvPr id="26" name="TextBox 25"/>
          <p:cNvSpPr txBox="1"/>
          <p:nvPr/>
        </p:nvSpPr>
        <p:spPr>
          <a:xfrm>
            <a:off x="9546336" y="3931920"/>
            <a:ext cx="2011680" cy="1645920"/>
          </a:xfrm>
          <a:prstGeom prst="rect">
            <a:avLst/>
          </a:prstGeom>
          <a:noFill/>
        </p:spPr>
        <p:txBody>
          <a:bodyPr wrap="square" anchor="t" lIns="0" rIns="0" tIns="0" bIns="0">
            <a:spAutoFit/>
          </a:bodyPr>
          <a:lstStyle/>
          <a:p>
            <a:pPr algn="l">
              <a:spcAft>
                <a:spcPts val="0"/>
              </a:spcAft>
            </a:pPr>
            <a:r>
              <a:rPr sz="1500" b="0" i="0">
                <a:solidFill>
                  <a:srgbClr val="1F2A2E"/>
                </a:solidFill>
                <a:latin typeface="Calibri"/>
              </a:rPr>
              <a:t>What would an OB of human–AI joint agency look like?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II · COURSE DESIGN</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How the grade is earned</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Chart 5"/>
          <p:cNvGraphicFramePr>
            <a:graphicFrameLocks noGrp="1"/>
          </p:cNvGraphicFramePr>
          <p:nvPr/>
        </p:nvGraphicFramePr>
        <p:xfrm>
          <a:off x="548640" y="1645920"/>
          <a:ext cx="5852160" cy="4572000"/>
        </p:xfrm>
        <a:graphic>
          <a:graphicData uri="http://schemas.openxmlformats.org/drawingml/2006/chart">
            <c:chart xmlns:c="http://schemas.openxmlformats.org/drawingml/2006/chart" r:id="rId3"/>
          </a:graphicData>
        </a:graphic>
      </p:graphicFrame>
      <p:sp>
        <p:nvSpPr>
          <p:cNvPr id="7" name="TextBox 6"/>
          <p:cNvSpPr txBox="1"/>
          <p:nvPr/>
        </p:nvSpPr>
        <p:spPr>
          <a:xfrm>
            <a:off x="6858000" y="1783080"/>
            <a:ext cx="1371600" cy="731520"/>
          </a:xfrm>
          <a:prstGeom prst="rect">
            <a:avLst/>
          </a:prstGeom>
          <a:noFill/>
        </p:spPr>
        <p:txBody>
          <a:bodyPr wrap="square" anchor="t" lIns="0" rIns="0" tIns="0" bIns="0">
            <a:spAutoFit/>
          </a:bodyPr>
          <a:lstStyle/>
          <a:p>
            <a:pPr algn="l">
              <a:spcAft>
                <a:spcPts val="0"/>
              </a:spcAft>
            </a:pPr>
            <a:r>
              <a:rPr sz="3400" b="1" i="0">
                <a:solidFill>
                  <a:srgbClr val="D9694A"/>
                </a:solidFill>
                <a:latin typeface="Cambria"/>
              </a:rPr>
              <a:t>40%</a:t>
            </a:r>
          </a:p>
        </p:txBody>
      </p:sp>
      <p:sp>
        <p:nvSpPr>
          <p:cNvPr id="8" name="TextBox 7"/>
          <p:cNvSpPr txBox="1"/>
          <p:nvPr/>
        </p:nvSpPr>
        <p:spPr>
          <a:xfrm>
            <a:off x="8321040" y="1801368"/>
            <a:ext cx="3383280" cy="4114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Human–AI Work Study</a:t>
            </a:r>
          </a:p>
        </p:txBody>
      </p:sp>
      <p:sp>
        <p:nvSpPr>
          <p:cNvPr id="9" name="TextBox 8"/>
          <p:cNvSpPr txBox="1"/>
          <p:nvPr/>
        </p:nvSpPr>
        <p:spPr>
          <a:xfrm>
            <a:off x="8321040" y="2194560"/>
            <a:ext cx="3383280" cy="45720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Milestones 10% · Final report 20% · Presentation 10%</a:t>
            </a:r>
          </a:p>
        </p:txBody>
      </p:sp>
      <p:sp>
        <p:nvSpPr>
          <p:cNvPr id="10" name="TextBox 9"/>
          <p:cNvSpPr txBox="1"/>
          <p:nvPr/>
        </p:nvSpPr>
        <p:spPr>
          <a:xfrm>
            <a:off x="6858000" y="2880360"/>
            <a:ext cx="1371600" cy="731520"/>
          </a:xfrm>
          <a:prstGeom prst="rect">
            <a:avLst/>
          </a:prstGeom>
          <a:noFill/>
        </p:spPr>
        <p:txBody>
          <a:bodyPr wrap="square" anchor="t" lIns="0" rIns="0" tIns="0" bIns="0">
            <a:spAutoFit/>
          </a:bodyPr>
          <a:lstStyle/>
          <a:p>
            <a:pPr algn="l">
              <a:spcAft>
                <a:spcPts val="0"/>
              </a:spcAft>
            </a:pPr>
            <a:r>
              <a:rPr sz="3400" b="1" i="0">
                <a:solidFill>
                  <a:srgbClr val="1F2A2E"/>
                </a:solidFill>
                <a:latin typeface="Cambria"/>
              </a:rPr>
              <a:t>30%</a:t>
            </a:r>
          </a:p>
        </p:txBody>
      </p:sp>
      <p:sp>
        <p:nvSpPr>
          <p:cNvPr id="11" name="TextBox 10"/>
          <p:cNvSpPr txBox="1"/>
          <p:nvPr/>
        </p:nvSpPr>
        <p:spPr>
          <a:xfrm>
            <a:off x="8321040" y="2898648"/>
            <a:ext cx="3383280" cy="4114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Examinations</a:t>
            </a:r>
          </a:p>
        </p:txBody>
      </p:sp>
      <p:sp>
        <p:nvSpPr>
          <p:cNvPr id="12" name="TextBox 11"/>
          <p:cNvSpPr txBox="1"/>
          <p:nvPr/>
        </p:nvSpPr>
        <p:spPr>
          <a:xfrm>
            <a:off x="8321040" y="3291840"/>
            <a:ext cx="3383280" cy="45720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Midterm 15% · Final 15% · in person, no AI</a:t>
            </a:r>
          </a:p>
        </p:txBody>
      </p:sp>
      <p:sp>
        <p:nvSpPr>
          <p:cNvPr id="13" name="TextBox 12"/>
          <p:cNvSpPr txBox="1"/>
          <p:nvPr/>
        </p:nvSpPr>
        <p:spPr>
          <a:xfrm>
            <a:off x="6858000" y="3977639"/>
            <a:ext cx="1371600" cy="731520"/>
          </a:xfrm>
          <a:prstGeom prst="rect">
            <a:avLst/>
          </a:prstGeom>
          <a:noFill/>
        </p:spPr>
        <p:txBody>
          <a:bodyPr wrap="square" anchor="t" lIns="0" rIns="0" tIns="0" bIns="0">
            <a:spAutoFit/>
          </a:bodyPr>
          <a:lstStyle/>
          <a:p>
            <a:pPr algn="l">
              <a:spcAft>
                <a:spcPts val="0"/>
              </a:spcAft>
            </a:pPr>
            <a:r>
              <a:rPr sz="3400" b="1" i="0">
                <a:solidFill>
                  <a:srgbClr val="2E8B7A"/>
                </a:solidFill>
                <a:latin typeface="Cambria"/>
              </a:rPr>
              <a:t>20%</a:t>
            </a:r>
          </a:p>
        </p:txBody>
      </p:sp>
      <p:sp>
        <p:nvSpPr>
          <p:cNvPr id="14" name="TextBox 13"/>
          <p:cNvSpPr txBox="1"/>
          <p:nvPr/>
        </p:nvSpPr>
        <p:spPr>
          <a:xfrm>
            <a:off x="8321040" y="3995927"/>
            <a:ext cx="3383280" cy="4114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Reading reflections</a:t>
            </a:r>
          </a:p>
        </p:txBody>
      </p:sp>
      <p:sp>
        <p:nvSpPr>
          <p:cNvPr id="15" name="TextBox 14"/>
          <p:cNvSpPr txBox="1"/>
          <p:nvPr/>
        </p:nvSpPr>
        <p:spPr>
          <a:xfrm>
            <a:off x="8321040" y="4389120"/>
            <a:ext cx="3383280" cy="45720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Nine reflections, best 8 count</a:t>
            </a:r>
          </a:p>
        </p:txBody>
      </p:sp>
      <p:sp>
        <p:nvSpPr>
          <p:cNvPr id="16" name="TextBox 15"/>
          <p:cNvSpPr txBox="1"/>
          <p:nvPr/>
        </p:nvSpPr>
        <p:spPr>
          <a:xfrm>
            <a:off x="6858000" y="5074920"/>
            <a:ext cx="1371600" cy="731520"/>
          </a:xfrm>
          <a:prstGeom prst="rect">
            <a:avLst/>
          </a:prstGeom>
          <a:noFill/>
        </p:spPr>
        <p:txBody>
          <a:bodyPr wrap="square" anchor="t" lIns="0" rIns="0" tIns="0" bIns="0">
            <a:spAutoFit/>
          </a:bodyPr>
          <a:lstStyle/>
          <a:p>
            <a:pPr algn="l">
              <a:spcAft>
                <a:spcPts val="0"/>
              </a:spcAft>
            </a:pPr>
            <a:r>
              <a:rPr sz="3400" b="1" i="0">
                <a:solidFill>
                  <a:srgbClr val="5B6B70"/>
                </a:solidFill>
                <a:latin typeface="Cambria"/>
              </a:rPr>
              <a:t>10%</a:t>
            </a:r>
          </a:p>
        </p:txBody>
      </p:sp>
      <p:sp>
        <p:nvSpPr>
          <p:cNvPr id="17" name="TextBox 16"/>
          <p:cNvSpPr txBox="1"/>
          <p:nvPr/>
        </p:nvSpPr>
        <p:spPr>
          <a:xfrm>
            <a:off x="8321040" y="5093207"/>
            <a:ext cx="3383280" cy="411480"/>
          </a:xfrm>
          <a:prstGeom prst="rect">
            <a:avLst/>
          </a:prstGeom>
          <a:noFill/>
        </p:spPr>
        <p:txBody>
          <a:bodyPr wrap="square" anchor="t" lIns="0" rIns="0" tIns="0" bIns="0">
            <a:spAutoFit/>
          </a:bodyPr>
          <a:lstStyle/>
          <a:p>
            <a:pPr algn="l">
              <a:spcAft>
                <a:spcPts val="0"/>
              </a:spcAft>
            </a:pPr>
            <a:r>
              <a:rPr sz="1700" b="1" i="0">
                <a:solidFill>
                  <a:srgbClr val="1F2A2E"/>
                </a:solidFill>
                <a:latin typeface="Calibri"/>
              </a:rPr>
              <a:t>Participation</a:t>
            </a:r>
          </a:p>
        </p:txBody>
      </p:sp>
      <p:sp>
        <p:nvSpPr>
          <p:cNvPr id="18" name="TextBox 17"/>
          <p:cNvSpPr txBox="1"/>
          <p:nvPr/>
        </p:nvSpPr>
        <p:spPr>
          <a:xfrm>
            <a:off x="8321040" y="5486400"/>
            <a:ext cx="3383280" cy="45720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Graded on case discussion days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III · INTELLECTUAL FOUNDATIONS</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Classic and contemporary, week by week</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Table 5"/>
          <p:cNvGraphicFramePr>
            <a:graphicFrameLocks noGrp="1"/>
          </p:cNvGraphicFramePr>
          <p:nvPr/>
        </p:nvGraphicFramePr>
        <p:xfrm>
          <a:off x="548640" y="1691640"/>
          <a:ext cx="11064239" cy="4389120"/>
        </p:xfrm>
        <a:graphic>
          <a:graphicData uri="http://schemas.openxmlformats.org/drawingml/2006/table">
            <a:tbl>
              <a:tblPr firstRow="1" bandRow="1">
                <a:tableStyleId>{5C22544A-7EE6-4342-B048-85BDC9FD1C3A}</a:tableStyleId>
              </a:tblPr>
              <a:tblGrid>
                <a:gridCol w="731520"/>
                <a:gridCol w="3749039"/>
                <a:gridCol w="3291840"/>
                <a:gridCol w="3291840"/>
              </a:tblGrid>
              <a:tr h="438912">
                <a:tc>
                  <a:txBody>
                    <a:bodyPr wrap="square"/>
                    <a:lstStyle/>
                    <a:p>
                      <a:r>
                        <a:rPr sz="1400" b="1">
                          <a:solidFill>
                            <a:srgbClr val="FFFFFF"/>
                          </a:solidFill>
                          <a:latin typeface="Calibri"/>
                        </a:rPr>
                        <a:t>Week</a:t>
                      </a:r>
                    </a:p>
                  </a:txBody>
                  <a:tcPr marL="73152" marR="73152" marT="27432" marB="27432" anchor="ctr">
                    <a:solidFill>
                      <a:srgbClr val="1F2A2E"/>
                    </a:solidFill>
                  </a:tcPr>
                </a:tc>
                <a:tc>
                  <a:txBody>
                    <a:bodyPr wrap="square"/>
                    <a:lstStyle/>
                    <a:p>
                      <a:r>
                        <a:rPr sz="1400" b="1">
                          <a:solidFill>
                            <a:srgbClr val="FFFFFF"/>
                          </a:solidFill>
                          <a:latin typeface="Calibri"/>
                        </a:rPr>
                        <a:t>Theme</a:t>
                      </a:r>
                    </a:p>
                  </a:txBody>
                  <a:tcPr marL="73152" marR="73152" marT="27432" marB="27432" anchor="ctr">
                    <a:solidFill>
                      <a:srgbClr val="1F2A2E"/>
                    </a:solidFill>
                  </a:tcPr>
                </a:tc>
                <a:tc>
                  <a:txBody>
                    <a:bodyPr wrap="square"/>
                    <a:lstStyle/>
                    <a:p>
                      <a:r>
                        <a:rPr sz="1400" b="1">
                          <a:solidFill>
                            <a:srgbClr val="FFFFFF"/>
                          </a:solidFill>
                          <a:latin typeface="Calibri"/>
                        </a:rPr>
                        <a:t>Classic OB</a:t>
                      </a:r>
                    </a:p>
                  </a:txBody>
                  <a:tcPr marL="73152" marR="73152" marT="27432" marB="27432" anchor="ctr">
                    <a:solidFill>
                      <a:srgbClr val="1F2A2E"/>
                    </a:solidFill>
                  </a:tcPr>
                </a:tc>
                <a:tc>
                  <a:txBody>
                    <a:bodyPr wrap="square"/>
                    <a:lstStyle/>
                    <a:p>
                      <a:r>
                        <a:rPr sz="1400" b="1">
                          <a:solidFill>
                            <a:srgbClr val="FFFFFF"/>
                          </a:solidFill>
                          <a:latin typeface="Calibri"/>
                        </a:rPr>
                        <a:t>Contemporary AI</a:t>
                      </a:r>
                    </a:p>
                  </a:txBody>
                  <a:tcPr marL="73152" marR="73152" marT="27432" marB="27432" anchor="ctr">
                    <a:solidFill>
                      <a:srgbClr val="1F2A2E"/>
                    </a:solidFill>
                  </a:tcPr>
                </a:tc>
              </a:tr>
              <a:tr h="438912">
                <a:tc>
                  <a:txBody>
                    <a:bodyPr wrap="square"/>
                    <a:lstStyle/>
                    <a:p>
                      <a:r>
                        <a:rPr sz="1400" b="0">
                          <a:solidFill>
                            <a:srgbClr val="1F2A2E"/>
                          </a:solidFill>
                          <a:latin typeface="Calibri"/>
                        </a:rPr>
                        <a:t>2</a:t>
                      </a:r>
                    </a:p>
                  </a:txBody>
                  <a:tcPr marL="73152" marR="73152" marT="27432" marB="27432" anchor="ctr">
                    <a:solidFill>
                      <a:srgbClr val="FFFFFF"/>
                    </a:solidFill>
                  </a:tcPr>
                </a:tc>
                <a:tc>
                  <a:txBody>
                    <a:bodyPr wrap="square"/>
                    <a:lstStyle/>
                    <a:p>
                      <a:r>
                        <a:rPr sz="1400" b="0">
                          <a:solidFill>
                            <a:srgbClr val="1F2A2E"/>
                          </a:solidFill>
                          <a:latin typeface="Calibri"/>
                        </a:rPr>
                        <a:t>Personality, attitudes, and trust in AI</a:t>
                      </a:r>
                    </a:p>
                  </a:txBody>
                  <a:tcPr marL="73152" marR="73152" marT="27432" marB="27432" anchor="ctr">
                    <a:solidFill>
                      <a:srgbClr val="FFFFFF"/>
                    </a:solidFill>
                  </a:tcPr>
                </a:tc>
                <a:tc>
                  <a:txBody>
                    <a:bodyPr wrap="square"/>
                    <a:lstStyle/>
                    <a:p>
                      <a:r>
                        <a:rPr sz="1400" b="0">
                          <a:solidFill>
                            <a:srgbClr val="1F2A2E"/>
                          </a:solidFill>
                          <a:latin typeface="Calibri"/>
                        </a:rPr>
                        <a:t>Mayer, Davis &amp; Schoorman (1995)</a:t>
                      </a:r>
                    </a:p>
                  </a:txBody>
                  <a:tcPr marL="73152" marR="73152" marT="27432" marB="27432" anchor="ctr">
                    <a:solidFill>
                      <a:srgbClr val="FFFFFF"/>
                    </a:solidFill>
                  </a:tcPr>
                </a:tc>
                <a:tc>
                  <a:txBody>
                    <a:bodyPr wrap="square"/>
                    <a:lstStyle/>
                    <a:p>
                      <a:r>
                        <a:rPr sz="1400" b="0">
                          <a:solidFill>
                            <a:srgbClr val="1F2A2E"/>
                          </a:solidFill>
                          <a:latin typeface="Calibri"/>
                        </a:rPr>
                        <a:t>Vuori et al. (2025)</a:t>
                      </a:r>
                    </a:p>
                  </a:txBody>
                  <a:tcPr marL="73152" marR="73152" marT="27432" marB="27432" anchor="ctr">
                    <a:solidFill>
                      <a:srgbClr val="FFFFFF"/>
                    </a:solidFill>
                  </a:tcPr>
                </a:tc>
              </a:tr>
              <a:tr h="438912">
                <a:tc>
                  <a:txBody>
                    <a:bodyPr wrap="square"/>
                    <a:lstStyle/>
                    <a:p>
                      <a:r>
                        <a:rPr sz="1400" b="0">
                          <a:solidFill>
                            <a:srgbClr val="1F2A2E"/>
                          </a:solidFill>
                          <a:latin typeface="Calibri"/>
                        </a:rPr>
                        <a:t>3</a:t>
                      </a:r>
                    </a:p>
                  </a:txBody>
                  <a:tcPr marL="73152" marR="73152" marT="27432" marB="27432" anchor="ctr">
                    <a:solidFill>
                      <a:srgbClr val="EEF3F1"/>
                    </a:solidFill>
                  </a:tcPr>
                </a:tc>
                <a:tc>
                  <a:txBody>
                    <a:bodyPr wrap="square"/>
                    <a:lstStyle/>
                    <a:p>
                      <a:r>
                        <a:rPr sz="1400" b="0">
                          <a:solidFill>
                            <a:srgbClr val="1F2A2E"/>
                          </a:solidFill>
                          <a:latin typeface="Calibri"/>
                        </a:rPr>
                        <a:t>Learning and perception with algorithms</a:t>
                      </a:r>
                    </a:p>
                  </a:txBody>
                  <a:tcPr marL="73152" marR="73152" marT="27432" marB="27432" anchor="ctr">
                    <a:solidFill>
                      <a:srgbClr val="EEF3F1"/>
                    </a:solidFill>
                  </a:tcPr>
                </a:tc>
                <a:tc>
                  <a:txBody>
                    <a:bodyPr wrap="square"/>
                    <a:lstStyle/>
                    <a:p>
                      <a:r>
                        <a:rPr sz="1400" b="0">
                          <a:solidFill>
                            <a:srgbClr val="1F2A2E"/>
                          </a:solidFill>
                          <a:latin typeface="Calibri"/>
                        </a:rPr>
                        <a:t>Nonaka (1994)</a:t>
                      </a:r>
                    </a:p>
                  </a:txBody>
                  <a:tcPr marL="73152" marR="73152" marT="27432" marB="27432" anchor="ctr">
                    <a:solidFill>
                      <a:srgbClr val="EEF3F1"/>
                    </a:solidFill>
                  </a:tcPr>
                </a:tc>
                <a:tc>
                  <a:txBody>
                    <a:bodyPr wrap="square"/>
                    <a:lstStyle/>
                    <a:p>
                      <a:r>
                        <a:rPr sz="1400" b="0">
                          <a:solidFill>
                            <a:srgbClr val="1F2A2E"/>
                          </a:solidFill>
                          <a:latin typeface="Calibri"/>
                        </a:rPr>
                        <a:t>Anthony (2021)</a:t>
                      </a:r>
                    </a:p>
                  </a:txBody>
                  <a:tcPr marL="73152" marR="73152" marT="27432" marB="27432" anchor="ctr">
                    <a:solidFill>
                      <a:srgbClr val="EEF3F1"/>
                    </a:solidFill>
                  </a:tcPr>
                </a:tc>
              </a:tr>
              <a:tr h="438912">
                <a:tc>
                  <a:txBody>
                    <a:bodyPr wrap="square"/>
                    <a:lstStyle/>
                    <a:p>
                      <a:r>
                        <a:rPr sz="1400" b="0">
                          <a:solidFill>
                            <a:srgbClr val="1F2A2E"/>
                          </a:solidFill>
                          <a:latin typeface="Calibri"/>
                        </a:rPr>
                        <a:t>4</a:t>
                      </a:r>
                    </a:p>
                  </a:txBody>
                  <a:tcPr marL="73152" marR="73152" marT="27432" marB="27432" anchor="ctr">
                    <a:solidFill>
                      <a:srgbClr val="FFFFFF"/>
                    </a:solidFill>
                  </a:tcPr>
                </a:tc>
                <a:tc>
                  <a:txBody>
                    <a:bodyPr wrap="square"/>
                    <a:lstStyle/>
                    <a:p>
                      <a:r>
                        <a:rPr sz="1400" b="0">
                          <a:solidFill>
                            <a:srgbClr val="1F2A2E"/>
                          </a:solidFill>
                          <a:latin typeface="Calibri"/>
                        </a:rPr>
                        <a:t>Motivation and work design</a:t>
                      </a:r>
                    </a:p>
                  </a:txBody>
                  <a:tcPr marL="73152" marR="73152" marT="27432" marB="27432" anchor="ctr">
                    <a:solidFill>
                      <a:srgbClr val="FFFFFF"/>
                    </a:solidFill>
                  </a:tcPr>
                </a:tc>
                <a:tc>
                  <a:txBody>
                    <a:bodyPr wrap="square"/>
                    <a:lstStyle/>
                    <a:p>
                      <a:r>
                        <a:rPr sz="1400" b="0">
                          <a:solidFill>
                            <a:srgbClr val="1F2A2E"/>
                          </a:solidFill>
                          <a:latin typeface="Calibri"/>
                        </a:rPr>
                        <a:t>Hackman &amp; Oldham (1976)</a:t>
                      </a:r>
                    </a:p>
                  </a:txBody>
                  <a:tcPr marL="73152" marR="73152" marT="27432" marB="27432" anchor="ctr">
                    <a:solidFill>
                      <a:srgbClr val="FFFFFF"/>
                    </a:solidFill>
                  </a:tcPr>
                </a:tc>
                <a:tc>
                  <a:txBody>
                    <a:bodyPr wrap="square"/>
                    <a:lstStyle/>
                    <a:p>
                      <a:r>
                        <a:rPr sz="1400" b="0">
                          <a:solidFill>
                            <a:srgbClr val="1F2A2E"/>
                          </a:solidFill>
                          <a:latin typeface="Calibri"/>
                        </a:rPr>
                        <a:t>Schulz et al. (2025)</a:t>
                      </a:r>
                    </a:p>
                  </a:txBody>
                  <a:tcPr marL="73152" marR="73152" marT="27432" marB="27432" anchor="ctr">
                    <a:solidFill>
                      <a:srgbClr val="FFFFFF"/>
                    </a:solidFill>
                  </a:tcPr>
                </a:tc>
              </a:tr>
              <a:tr h="438912">
                <a:tc>
                  <a:txBody>
                    <a:bodyPr wrap="square"/>
                    <a:lstStyle/>
                    <a:p>
                      <a:r>
                        <a:rPr sz="1400" b="0">
                          <a:solidFill>
                            <a:srgbClr val="1F2A2E"/>
                          </a:solidFill>
                          <a:latin typeface="Calibri"/>
                        </a:rPr>
                        <a:t>5</a:t>
                      </a:r>
                    </a:p>
                  </a:txBody>
                  <a:tcPr marL="73152" marR="73152" marT="27432" marB="27432" anchor="ctr">
                    <a:solidFill>
                      <a:srgbClr val="EEF3F1"/>
                    </a:solidFill>
                  </a:tcPr>
                </a:tc>
                <a:tc>
                  <a:txBody>
                    <a:bodyPr wrap="square"/>
                    <a:lstStyle/>
                    <a:p>
                      <a:r>
                        <a:rPr sz="1400" b="0">
                          <a:solidFill>
                            <a:srgbClr val="1F2A2E"/>
                          </a:solidFill>
                          <a:latin typeface="Calibri"/>
                        </a:rPr>
                        <a:t>Leadership with AI</a:t>
                      </a:r>
                    </a:p>
                  </a:txBody>
                  <a:tcPr marL="73152" marR="73152" marT="27432" marB="27432" anchor="ctr">
                    <a:solidFill>
                      <a:srgbClr val="EEF3F1"/>
                    </a:solidFill>
                  </a:tcPr>
                </a:tc>
                <a:tc>
                  <a:txBody>
                    <a:bodyPr wrap="square"/>
                    <a:lstStyle/>
                    <a:p>
                      <a:r>
                        <a:rPr sz="1400" b="0">
                          <a:solidFill>
                            <a:srgbClr val="1F2A2E"/>
                          </a:solidFill>
                          <a:latin typeface="Calibri"/>
                        </a:rPr>
                        <a:t>Graen &amp; Uhl-Bien (1995)</a:t>
                      </a:r>
                    </a:p>
                  </a:txBody>
                  <a:tcPr marL="73152" marR="73152" marT="27432" marB="27432" anchor="ctr">
                    <a:solidFill>
                      <a:srgbClr val="EEF3F1"/>
                    </a:solidFill>
                  </a:tcPr>
                </a:tc>
                <a:tc>
                  <a:txBody>
                    <a:bodyPr wrap="square"/>
                    <a:lstStyle/>
                    <a:p>
                      <a:r>
                        <a:rPr sz="1400" b="0">
                          <a:solidFill>
                            <a:srgbClr val="1F2A2E"/>
                          </a:solidFill>
                          <a:latin typeface="Calibri"/>
                        </a:rPr>
                        <a:t>Liu et al. (2026)</a:t>
                      </a:r>
                    </a:p>
                  </a:txBody>
                  <a:tcPr marL="73152" marR="73152" marT="27432" marB="27432" anchor="ctr">
                    <a:solidFill>
                      <a:srgbClr val="EEF3F1"/>
                    </a:solidFill>
                  </a:tcPr>
                </a:tc>
              </a:tr>
              <a:tr h="438912">
                <a:tc>
                  <a:txBody>
                    <a:bodyPr wrap="square"/>
                    <a:lstStyle/>
                    <a:p>
                      <a:r>
                        <a:rPr sz="1400" b="0">
                          <a:solidFill>
                            <a:srgbClr val="1F2A2E"/>
                          </a:solidFill>
                          <a:latin typeface="Calibri"/>
                        </a:rPr>
                        <a:t>6</a:t>
                      </a:r>
                    </a:p>
                  </a:txBody>
                  <a:tcPr marL="73152" marR="73152" marT="27432" marB="27432" anchor="ctr">
                    <a:solidFill>
                      <a:srgbClr val="FFFFFF"/>
                    </a:solidFill>
                  </a:tcPr>
                </a:tc>
                <a:tc>
                  <a:txBody>
                    <a:bodyPr wrap="square"/>
                    <a:lstStyle/>
                    <a:p>
                      <a:r>
                        <a:rPr sz="1400" b="0">
                          <a:solidFill>
                            <a:srgbClr val="1F2A2E"/>
                          </a:solidFill>
                          <a:latin typeface="Calibri"/>
                        </a:rPr>
                        <a:t>Group decision making</a:t>
                      </a:r>
                    </a:p>
                  </a:txBody>
                  <a:tcPr marL="73152" marR="73152" marT="27432" marB="27432" anchor="ctr">
                    <a:solidFill>
                      <a:srgbClr val="FFFFFF"/>
                    </a:solidFill>
                  </a:tcPr>
                </a:tc>
                <a:tc>
                  <a:txBody>
                    <a:bodyPr wrap="square"/>
                    <a:lstStyle/>
                    <a:p>
                      <a:r>
                        <a:rPr sz="1400" b="0">
                          <a:solidFill>
                            <a:srgbClr val="1F2A2E"/>
                          </a:solidFill>
                          <a:latin typeface="Calibri"/>
                        </a:rPr>
                        <a:t>Stasser &amp; Titus (1985)</a:t>
                      </a:r>
                    </a:p>
                  </a:txBody>
                  <a:tcPr marL="73152" marR="73152" marT="27432" marB="27432" anchor="ctr">
                    <a:solidFill>
                      <a:srgbClr val="FFFFFF"/>
                    </a:solidFill>
                  </a:tcPr>
                </a:tc>
                <a:tc>
                  <a:txBody>
                    <a:bodyPr wrap="square"/>
                    <a:lstStyle/>
                    <a:p>
                      <a:r>
                        <a:rPr sz="1400" b="0">
                          <a:solidFill>
                            <a:srgbClr val="1F2A2E"/>
                          </a:solidFill>
                          <a:latin typeface="Calibri"/>
                        </a:rPr>
                        <a:t>Zercher et al. (2025)</a:t>
                      </a:r>
                    </a:p>
                  </a:txBody>
                  <a:tcPr marL="73152" marR="73152" marT="27432" marB="27432" anchor="ctr">
                    <a:solidFill>
                      <a:srgbClr val="FFFFFF"/>
                    </a:solidFill>
                  </a:tcPr>
                </a:tc>
              </a:tr>
              <a:tr h="438912">
                <a:tc>
                  <a:txBody>
                    <a:bodyPr wrap="square"/>
                    <a:lstStyle/>
                    <a:p>
                      <a:r>
                        <a:rPr sz="1400" b="0">
                          <a:solidFill>
                            <a:srgbClr val="1F2A2E"/>
                          </a:solidFill>
                          <a:latin typeface="Calibri"/>
                        </a:rPr>
                        <a:t>7</a:t>
                      </a:r>
                    </a:p>
                  </a:txBody>
                  <a:tcPr marL="73152" marR="73152" marT="27432" marB="27432" anchor="ctr">
                    <a:solidFill>
                      <a:srgbClr val="EEF3F1"/>
                    </a:solidFill>
                  </a:tcPr>
                </a:tc>
                <a:tc>
                  <a:txBody>
                    <a:bodyPr wrap="square"/>
                    <a:lstStyle/>
                    <a:p>
                      <a:r>
                        <a:rPr sz="1400" b="0">
                          <a:solidFill>
                            <a:srgbClr val="1F2A2E"/>
                          </a:solidFill>
                          <a:latin typeface="Calibri"/>
                        </a:rPr>
                        <a:t>Teams, trust, and psychological safety</a:t>
                      </a:r>
                    </a:p>
                  </a:txBody>
                  <a:tcPr marL="73152" marR="73152" marT="27432" marB="27432" anchor="ctr">
                    <a:solidFill>
                      <a:srgbClr val="EEF3F1"/>
                    </a:solidFill>
                  </a:tcPr>
                </a:tc>
                <a:tc>
                  <a:txBody>
                    <a:bodyPr wrap="square"/>
                    <a:lstStyle/>
                    <a:p>
                      <a:r>
                        <a:rPr sz="1400" b="0">
                          <a:solidFill>
                            <a:srgbClr val="1F2A2E"/>
                          </a:solidFill>
                          <a:latin typeface="Calibri"/>
                        </a:rPr>
                        <a:t>Edmondson (1999)</a:t>
                      </a:r>
                    </a:p>
                  </a:txBody>
                  <a:tcPr marL="73152" marR="73152" marT="27432" marB="27432" anchor="ctr">
                    <a:solidFill>
                      <a:srgbClr val="EEF3F1"/>
                    </a:solidFill>
                  </a:tcPr>
                </a:tc>
                <a:tc>
                  <a:txBody>
                    <a:bodyPr wrap="square"/>
                    <a:lstStyle/>
                    <a:p>
                      <a:r>
                        <a:rPr sz="1400" b="0">
                          <a:solidFill>
                            <a:srgbClr val="1F2A2E"/>
                          </a:solidFill>
                          <a:latin typeface="Calibri"/>
                        </a:rPr>
                        <a:t>Erengin et al. (2025)</a:t>
                      </a:r>
                    </a:p>
                  </a:txBody>
                  <a:tcPr marL="73152" marR="73152" marT="27432" marB="27432" anchor="ctr">
                    <a:solidFill>
                      <a:srgbClr val="EEF3F1"/>
                    </a:solidFill>
                  </a:tcPr>
                </a:tc>
              </a:tr>
              <a:tr h="438912">
                <a:tc>
                  <a:txBody>
                    <a:bodyPr wrap="square"/>
                    <a:lstStyle/>
                    <a:p>
                      <a:r>
                        <a:rPr sz="1400" b="0">
                          <a:solidFill>
                            <a:srgbClr val="1F2A2E"/>
                          </a:solidFill>
                          <a:latin typeface="Calibri"/>
                        </a:rPr>
                        <a:t>8</a:t>
                      </a:r>
                    </a:p>
                  </a:txBody>
                  <a:tcPr marL="73152" marR="73152" marT="27432" marB="27432" anchor="ctr">
                    <a:solidFill>
                      <a:srgbClr val="FFFFFF"/>
                    </a:solidFill>
                  </a:tcPr>
                </a:tc>
                <a:tc>
                  <a:txBody>
                    <a:bodyPr wrap="square"/>
                    <a:lstStyle/>
                    <a:p>
                      <a:r>
                        <a:rPr sz="1400" b="0">
                          <a:solidFill>
                            <a:srgbClr val="1F2A2E"/>
                          </a:solidFill>
                          <a:latin typeface="Calibri"/>
                        </a:rPr>
                        <a:t>Diversity, inclusion, and algorithmic fairness</a:t>
                      </a:r>
                    </a:p>
                  </a:txBody>
                  <a:tcPr marL="73152" marR="73152" marT="27432" marB="27432" anchor="ctr">
                    <a:solidFill>
                      <a:srgbClr val="FFFFFF"/>
                    </a:solidFill>
                  </a:tcPr>
                </a:tc>
                <a:tc>
                  <a:txBody>
                    <a:bodyPr wrap="square"/>
                    <a:lstStyle/>
                    <a:p>
                      <a:r>
                        <a:rPr sz="1400" b="0">
                          <a:solidFill>
                            <a:srgbClr val="1F2A2E"/>
                          </a:solidFill>
                          <a:latin typeface="Calibri"/>
                        </a:rPr>
                        <a:t>Ely &amp; Thomas (2001)</a:t>
                      </a:r>
                    </a:p>
                  </a:txBody>
                  <a:tcPr marL="73152" marR="73152" marT="27432" marB="27432" anchor="ctr">
                    <a:solidFill>
                      <a:srgbClr val="FFFFFF"/>
                    </a:solidFill>
                  </a:tcPr>
                </a:tc>
                <a:tc>
                  <a:txBody>
                    <a:bodyPr wrap="square"/>
                    <a:lstStyle/>
                    <a:p>
                      <a:r>
                        <a:rPr sz="1400" b="0">
                          <a:solidFill>
                            <a:srgbClr val="1F2A2E"/>
                          </a:solidFill>
                          <a:latin typeface="Calibri"/>
                        </a:rPr>
                        <a:t>van den Broek et al. (2025)</a:t>
                      </a:r>
                    </a:p>
                  </a:txBody>
                  <a:tcPr marL="73152" marR="73152" marT="27432" marB="27432" anchor="ctr">
                    <a:solidFill>
                      <a:srgbClr val="FFFFFF"/>
                    </a:solidFill>
                  </a:tcPr>
                </a:tc>
              </a:tr>
              <a:tr h="438912">
                <a:tc>
                  <a:txBody>
                    <a:bodyPr wrap="square"/>
                    <a:lstStyle/>
                    <a:p>
                      <a:r>
                        <a:rPr sz="1400" b="0">
                          <a:solidFill>
                            <a:srgbClr val="1F2A2E"/>
                          </a:solidFill>
                          <a:latin typeface="Calibri"/>
                        </a:rPr>
                        <a:t>9</a:t>
                      </a:r>
                    </a:p>
                  </a:txBody>
                  <a:tcPr marL="73152" marR="73152" marT="27432" marB="27432" anchor="ctr">
                    <a:solidFill>
                      <a:srgbClr val="EEF3F1"/>
                    </a:solidFill>
                  </a:tcPr>
                </a:tc>
                <a:tc>
                  <a:txBody>
                    <a:bodyPr wrap="square"/>
                    <a:lstStyle/>
                    <a:p>
                      <a:r>
                        <a:rPr sz="1400" b="0">
                          <a:solidFill>
                            <a:srgbClr val="1F2A2E"/>
                          </a:solidFill>
                          <a:latin typeface="Calibri"/>
                        </a:rPr>
                        <a:t>Culture, expertise, and organizational learning</a:t>
                      </a:r>
                    </a:p>
                  </a:txBody>
                  <a:tcPr marL="73152" marR="73152" marT="27432" marB="27432" anchor="ctr">
                    <a:solidFill>
                      <a:srgbClr val="EEF3F1"/>
                    </a:solidFill>
                  </a:tcPr>
                </a:tc>
                <a:tc>
                  <a:txBody>
                    <a:bodyPr wrap="square"/>
                    <a:lstStyle/>
                    <a:p>
                      <a:r>
                        <a:rPr sz="1400" b="0">
                          <a:solidFill>
                            <a:srgbClr val="1F2A2E"/>
                          </a:solidFill>
                          <a:latin typeface="Calibri"/>
                        </a:rPr>
                        <a:t>March (1991)</a:t>
                      </a:r>
                    </a:p>
                  </a:txBody>
                  <a:tcPr marL="73152" marR="73152" marT="27432" marB="27432" anchor="ctr">
                    <a:solidFill>
                      <a:srgbClr val="EEF3F1"/>
                    </a:solidFill>
                  </a:tcPr>
                </a:tc>
                <a:tc>
                  <a:txBody>
                    <a:bodyPr wrap="square"/>
                    <a:lstStyle/>
                    <a:p>
                      <a:r>
                        <a:rPr sz="1400" b="0">
                          <a:solidFill>
                            <a:srgbClr val="1F2A2E"/>
                          </a:solidFill>
                          <a:latin typeface="Calibri"/>
                        </a:rPr>
                        <a:t>Faulconbridge et al. (2023)</a:t>
                      </a:r>
                    </a:p>
                  </a:txBody>
                  <a:tcPr marL="73152" marR="73152" marT="27432" marB="27432" anchor="ctr">
                    <a:solidFill>
                      <a:srgbClr val="EEF3F1"/>
                    </a:solidFill>
                  </a:tcPr>
                </a:tc>
              </a:tr>
              <a:tr h="438912">
                <a:tc>
                  <a:txBody>
                    <a:bodyPr wrap="square"/>
                    <a:lstStyle/>
                    <a:p>
                      <a:r>
                        <a:rPr sz="1400" b="0">
                          <a:solidFill>
                            <a:srgbClr val="1F2A2E"/>
                          </a:solidFill>
                          <a:latin typeface="Calibri"/>
                        </a:rPr>
                        <a:t>10</a:t>
                      </a:r>
                    </a:p>
                  </a:txBody>
                  <a:tcPr marL="73152" marR="73152" marT="27432" marB="27432" anchor="ctr">
                    <a:solidFill>
                      <a:srgbClr val="FFFFFF"/>
                    </a:solidFill>
                  </a:tcPr>
                </a:tc>
                <a:tc>
                  <a:txBody>
                    <a:bodyPr wrap="square"/>
                    <a:lstStyle/>
                    <a:p>
                      <a:r>
                        <a:rPr sz="1400" b="0">
                          <a:solidFill>
                            <a:srgbClr val="1F2A2E"/>
                          </a:solidFill>
                          <a:latin typeface="Calibri"/>
                        </a:rPr>
                        <a:t>Toward an OB of human–AI joint agency</a:t>
                      </a:r>
                    </a:p>
                  </a:txBody>
                  <a:tcPr marL="73152" marR="73152" marT="27432" marB="27432" anchor="ctr">
                    <a:solidFill>
                      <a:srgbClr val="FFFFFF"/>
                    </a:solidFill>
                  </a:tcPr>
                </a:tc>
                <a:tc>
                  <a:txBody>
                    <a:bodyPr wrap="square"/>
                    <a:lstStyle/>
                    <a:p>
                      <a:r>
                        <a:rPr sz="1400" b="0">
                          <a:solidFill>
                            <a:srgbClr val="1F2A2E"/>
                          </a:solidFill>
                          <a:latin typeface="Calibri"/>
                        </a:rPr>
                        <a:t>Murray, Rhymer &amp; Sirmon (2021)</a:t>
                      </a:r>
                    </a:p>
                  </a:txBody>
                  <a:tcPr marL="73152" marR="73152" marT="27432" marB="27432" anchor="ctr">
                    <a:solidFill>
                      <a:srgbClr val="FFFFFF"/>
                    </a:solidFill>
                  </a:tcPr>
                </a:tc>
                <a:tc>
                  <a:txBody>
                    <a:bodyPr wrap="square"/>
                    <a:lstStyle/>
                    <a:p>
                      <a:r>
                        <a:rPr sz="1400" b="0">
                          <a:solidFill>
                            <a:srgbClr val="1F2A2E"/>
                          </a:solidFill>
                          <a:latin typeface="Calibri"/>
                        </a:rPr>
                        <a:t>Stelmaszak et al. (2025)</a:t>
                      </a:r>
                    </a:p>
                  </a:txBody>
                  <a:tcPr marL="73152" marR="73152" marT="27432" marB="27432"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III · INTELLECTUAL FOUNDATIONS</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Four questions for every pair of readings</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783080"/>
            <a:ext cx="5440680" cy="19659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2057400"/>
            <a:ext cx="640080" cy="640080"/>
          </a:xfrm>
          <a:prstGeom prst="ellipse">
            <a:avLst/>
          </a:prstGeom>
          <a:solidFill>
            <a:srgbClr val="1F2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Q1</a:t>
            </a:r>
          </a:p>
        </p:txBody>
      </p:sp>
      <p:sp>
        <p:nvSpPr>
          <p:cNvPr id="8" name="TextBox 7"/>
          <p:cNvSpPr txBox="1"/>
          <p:nvPr/>
        </p:nvSpPr>
        <p:spPr>
          <a:xfrm>
            <a:off x="1691640" y="2057400"/>
            <a:ext cx="4069080" cy="86868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What does the classic theory explain?</a:t>
            </a:r>
          </a:p>
        </p:txBody>
      </p:sp>
      <p:sp>
        <p:nvSpPr>
          <p:cNvPr id="9" name="TextBox 8"/>
          <p:cNvSpPr txBox="1"/>
          <p:nvPr/>
        </p:nvSpPr>
        <p:spPr>
          <a:xfrm>
            <a:off x="1691640" y="2971800"/>
            <a:ext cx="4069080" cy="640080"/>
          </a:xfrm>
          <a:prstGeom prst="rect">
            <a:avLst/>
          </a:prstGeom>
          <a:noFill/>
        </p:spPr>
        <p:txBody>
          <a:bodyPr wrap="square" anchor="t" lIns="0" rIns="0" tIns="0" bIns="0">
            <a:spAutoFit/>
          </a:bodyPr>
          <a:lstStyle/>
          <a:p>
            <a:pPr algn="l">
              <a:spcAft>
                <a:spcPts val="0"/>
              </a:spcAft>
            </a:pPr>
            <a:r>
              <a:rPr sz="1500" b="0" i="0">
                <a:solidFill>
                  <a:srgbClr val="5B6B70"/>
                </a:solidFill>
                <a:latin typeface="Calibri"/>
              </a:rPr>
              <a:t>Find its central claim about behavior at work.</a:t>
            </a:r>
          </a:p>
        </p:txBody>
      </p:sp>
      <p:sp>
        <p:nvSpPr>
          <p:cNvPr id="10" name="Rounded Rectangle 9"/>
          <p:cNvSpPr/>
          <p:nvPr/>
        </p:nvSpPr>
        <p:spPr>
          <a:xfrm>
            <a:off x="6172200" y="1783080"/>
            <a:ext cx="5440680" cy="19659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46520" y="2057400"/>
            <a:ext cx="640080" cy="64008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Q2</a:t>
            </a:r>
          </a:p>
        </p:txBody>
      </p:sp>
      <p:sp>
        <p:nvSpPr>
          <p:cNvPr id="12" name="TextBox 11"/>
          <p:cNvSpPr txBox="1"/>
          <p:nvPr/>
        </p:nvSpPr>
        <p:spPr>
          <a:xfrm>
            <a:off x="7315200" y="2057400"/>
            <a:ext cx="4069080" cy="86868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What does it assume about who knows and who decides?</a:t>
            </a:r>
          </a:p>
        </p:txBody>
      </p:sp>
      <p:sp>
        <p:nvSpPr>
          <p:cNvPr id="13" name="TextBox 12"/>
          <p:cNvSpPr txBox="1"/>
          <p:nvPr/>
        </p:nvSpPr>
        <p:spPr>
          <a:xfrm>
            <a:off x="7315200" y="2971800"/>
            <a:ext cx="4069080" cy="640080"/>
          </a:xfrm>
          <a:prstGeom prst="rect">
            <a:avLst/>
          </a:prstGeom>
          <a:noFill/>
        </p:spPr>
        <p:txBody>
          <a:bodyPr wrap="square" anchor="t" lIns="0" rIns="0" tIns="0" bIns="0">
            <a:spAutoFit/>
          </a:bodyPr>
          <a:lstStyle/>
          <a:p>
            <a:pPr algn="l">
              <a:spcAft>
                <a:spcPts val="0"/>
              </a:spcAft>
            </a:pPr>
            <a:r>
              <a:rPr sz="1500" b="0" i="0">
                <a:solidFill>
                  <a:srgbClr val="5B6B70"/>
                </a:solidFill>
                <a:latin typeface="Calibri"/>
              </a:rPr>
              <a:t>This is where AI puts the most pressure on theory.</a:t>
            </a:r>
          </a:p>
        </p:txBody>
      </p:sp>
      <p:sp>
        <p:nvSpPr>
          <p:cNvPr id="14" name="Rounded Rectangle 13"/>
          <p:cNvSpPr/>
          <p:nvPr/>
        </p:nvSpPr>
        <p:spPr>
          <a:xfrm>
            <a:off x="548640" y="3977639"/>
            <a:ext cx="5440680" cy="19659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59" y="4251959"/>
            <a:ext cx="640080" cy="64008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Q3</a:t>
            </a:r>
          </a:p>
        </p:txBody>
      </p:sp>
      <p:sp>
        <p:nvSpPr>
          <p:cNvPr id="16" name="TextBox 15"/>
          <p:cNvSpPr txBox="1"/>
          <p:nvPr/>
        </p:nvSpPr>
        <p:spPr>
          <a:xfrm>
            <a:off x="1691640" y="4251959"/>
            <a:ext cx="4069080" cy="86868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What does the AI study find?</a:t>
            </a:r>
          </a:p>
        </p:txBody>
      </p:sp>
      <p:sp>
        <p:nvSpPr>
          <p:cNvPr id="17" name="TextBox 16"/>
          <p:cNvSpPr txBox="1"/>
          <p:nvPr/>
        </p:nvSpPr>
        <p:spPr>
          <a:xfrm>
            <a:off x="1691640" y="5166359"/>
            <a:ext cx="4069080" cy="640080"/>
          </a:xfrm>
          <a:prstGeom prst="rect">
            <a:avLst/>
          </a:prstGeom>
          <a:noFill/>
        </p:spPr>
        <p:txBody>
          <a:bodyPr wrap="square" anchor="t" lIns="0" rIns="0" tIns="0" bIns="0">
            <a:spAutoFit/>
          </a:bodyPr>
          <a:lstStyle/>
          <a:p>
            <a:pPr algn="l">
              <a:spcAft>
                <a:spcPts val="0"/>
              </a:spcAft>
            </a:pPr>
            <a:r>
              <a:rPr sz="1500" b="0" i="0">
                <a:solidFill>
                  <a:srgbClr val="5B6B70"/>
                </a:solidFill>
                <a:latin typeface="Calibri"/>
              </a:rPr>
              <a:t>Which assumption does it support, challenge, or change?</a:t>
            </a:r>
          </a:p>
        </p:txBody>
      </p:sp>
      <p:sp>
        <p:nvSpPr>
          <p:cNvPr id="18" name="Rounded Rectangle 17"/>
          <p:cNvSpPr/>
          <p:nvPr/>
        </p:nvSpPr>
        <p:spPr>
          <a:xfrm>
            <a:off x="6172200" y="3977639"/>
            <a:ext cx="5440680" cy="19659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46520" y="4251959"/>
            <a:ext cx="640080" cy="64008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Q4</a:t>
            </a:r>
          </a:p>
        </p:txBody>
      </p:sp>
      <p:sp>
        <p:nvSpPr>
          <p:cNvPr id="20" name="TextBox 19"/>
          <p:cNvSpPr txBox="1"/>
          <p:nvPr/>
        </p:nvSpPr>
        <p:spPr>
          <a:xfrm>
            <a:off x="7315200" y="4251959"/>
            <a:ext cx="4069080" cy="868680"/>
          </a:xfrm>
          <a:prstGeom prst="rect">
            <a:avLst/>
          </a:prstGeom>
          <a:noFill/>
        </p:spPr>
        <p:txBody>
          <a:bodyPr wrap="square" anchor="t" lIns="0" rIns="0" tIns="0" bIns="0">
            <a:spAutoFit/>
          </a:bodyPr>
          <a:lstStyle/>
          <a:p>
            <a:pPr algn="l">
              <a:spcAft>
                <a:spcPts val="0"/>
              </a:spcAft>
            </a:pPr>
            <a:r>
              <a:rPr sz="1900" b="1" i="0">
                <a:solidFill>
                  <a:srgbClr val="1F2A2E"/>
                </a:solidFill>
                <a:latin typeface="Calibri"/>
              </a:rPr>
              <a:t>How would you revise the theory?</a:t>
            </a:r>
          </a:p>
        </p:txBody>
      </p:sp>
      <p:sp>
        <p:nvSpPr>
          <p:cNvPr id="21" name="TextBox 20"/>
          <p:cNvSpPr txBox="1"/>
          <p:nvPr/>
        </p:nvSpPr>
        <p:spPr>
          <a:xfrm>
            <a:off x="7315200" y="5166359"/>
            <a:ext cx="4069080" cy="640080"/>
          </a:xfrm>
          <a:prstGeom prst="rect">
            <a:avLst/>
          </a:prstGeom>
          <a:noFill/>
        </p:spPr>
        <p:txBody>
          <a:bodyPr wrap="square" anchor="t" lIns="0" rIns="0" tIns="0" bIns="0">
            <a:spAutoFit/>
          </a:bodyPr>
          <a:lstStyle/>
          <a:p>
            <a:pPr algn="l">
              <a:spcAft>
                <a:spcPts val="0"/>
              </a:spcAft>
            </a:pPr>
            <a:r>
              <a:rPr sz="1500" b="0" i="0">
                <a:solidFill>
                  <a:srgbClr val="5B6B70"/>
                </a:solidFill>
                <a:latin typeface="Calibri"/>
              </a:rPr>
              <a:t>For workplaces where people and AI know and decide together.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IV · THE JKD FRAMEWORK</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The Joint Knowing and Deciding (JKD) Framework</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691640"/>
            <a:ext cx="3520440" cy="416052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874519"/>
            <a:ext cx="3017520" cy="365760"/>
          </a:xfrm>
          <a:prstGeom prst="rect">
            <a:avLst/>
          </a:prstGeom>
          <a:noFill/>
        </p:spPr>
        <p:txBody>
          <a:bodyPr wrap="square" anchor="t" lIns="0" rIns="0" tIns="0" bIns="0">
            <a:spAutoFit/>
          </a:bodyPr>
          <a:lstStyle/>
          <a:p>
            <a:pPr algn="l">
              <a:spcAft>
                <a:spcPts val="0"/>
              </a:spcAft>
            </a:pPr>
            <a:r>
              <a:rPr sz="1500" b="1" i="0">
                <a:solidFill>
                  <a:srgbClr val="2E8B7A"/>
                </a:solidFill>
                <a:latin typeface="Calibri"/>
              </a:rPr>
              <a:t>KNOWING</a:t>
            </a:r>
          </a:p>
        </p:txBody>
      </p:sp>
      <p:sp>
        <p:nvSpPr>
          <p:cNvPr id="8" name="Oval 7"/>
          <p:cNvSpPr/>
          <p:nvPr/>
        </p:nvSpPr>
        <p:spPr>
          <a:xfrm>
            <a:off x="822959" y="2377440"/>
            <a:ext cx="502920" cy="50292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9" name="TextBox 8"/>
          <p:cNvSpPr txBox="1"/>
          <p:nvPr/>
        </p:nvSpPr>
        <p:spPr>
          <a:xfrm>
            <a:off x="1463040" y="2331720"/>
            <a:ext cx="2468880" cy="457200"/>
          </a:xfrm>
          <a:prstGeom prst="rect">
            <a:avLst/>
          </a:prstGeom>
          <a:noFill/>
        </p:spPr>
        <p:txBody>
          <a:bodyPr wrap="square" anchor="t" lIns="0" rIns="0" tIns="0" bIns="0">
            <a:spAutoFit/>
          </a:bodyPr>
          <a:lstStyle/>
          <a:p>
            <a:pPr algn="l">
              <a:spcAft>
                <a:spcPts val="0"/>
              </a:spcAft>
            </a:pPr>
            <a:r>
              <a:rPr sz="1600" b="1" i="0">
                <a:solidFill>
                  <a:srgbClr val="1F2A2E"/>
                </a:solidFill>
                <a:latin typeface="Calibri"/>
              </a:rPr>
              <a:t>Who knows?</a:t>
            </a:r>
          </a:p>
        </p:txBody>
      </p:sp>
      <p:sp>
        <p:nvSpPr>
          <p:cNvPr id="10" name="TextBox 9"/>
          <p:cNvSpPr txBox="1"/>
          <p:nvPr/>
        </p:nvSpPr>
        <p:spPr>
          <a:xfrm>
            <a:off x="1463040" y="2761488"/>
            <a:ext cx="2468880" cy="3657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Sources of knowledge</a:t>
            </a:r>
          </a:p>
        </p:txBody>
      </p:sp>
      <p:sp>
        <p:nvSpPr>
          <p:cNvPr id="11" name="Oval 10"/>
          <p:cNvSpPr/>
          <p:nvPr/>
        </p:nvSpPr>
        <p:spPr>
          <a:xfrm>
            <a:off x="822959" y="3520440"/>
            <a:ext cx="502920" cy="50292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1463040" y="3474720"/>
            <a:ext cx="2468880" cy="457200"/>
          </a:xfrm>
          <a:prstGeom prst="rect">
            <a:avLst/>
          </a:prstGeom>
          <a:noFill/>
        </p:spPr>
        <p:txBody>
          <a:bodyPr wrap="square" anchor="t" lIns="0" rIns="0" tIns="0" bIns="0">
            <a:spAutoFit/>
          </a:bodyPr>
          <a:lstStyle/>
          <a:p>
            <a:pPr algn="l">
              <a:spcAft>
                <a:spcPts val="0"/>
              </a:spcAft>
            </a:pPr>
            <a:r>
              <a:rPr sz="1600" b="1" i="0">
                <a:solidFill>
                  <a:srgbClr val="1F2A2E"/>
                </a:solidFill>
                <a:latin typeface="Calibri"/>
              </a:rPr>
              <a:t>How is knowledge built?</a:t>
            </a:r>
          </a:p>
        </p:txBody>
      </p:sp>
      <p:sp>
        <p:nvSpPr>
          <p:cNvPr id="13" name="TextBox 12"/>
          <p:cNvSpPr txBox="1"/>
          <p:nvPr/>
        </p:nvSpPr>
        <p:spPr>
          <a:xfrm>
            <a:off x="1463040" y="3904488"/>
            <a:ext cx="2468880" cy="3657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Co-creation and validation</a:t>
            </a:r>
          </a:p>
        </p:txBody>
      </p:sp>
      <p:sp>
        <p:nvSpPr>
          <p:cNvPr id="14" name="Rounded Rectangle 13"/>
          <p:cNvSpPr/>
          <p:nvPr/>
        </p:nvSpPr>
        <p:spPr>
          <a:xfrm>
            <a:off x="4297679" y="1691640"/>
            <a:ext cx="3520440" cy="416052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1874519"/>
            <a:ext cx="3017520" cy="365760"/>
          </a:xfrm>
          <a:prstGeom prst="rect">
            <a:avLst/>
          </a:prstGeom>
          <a:noFill/>
        </p:spPr>
        <p:txBody>
          <a:bodyPr wrap="square" anchor="t" lIns="0" rIns="0" tIns="0" bIns="0">
            <a:spAutoFit/>
          </a:bodyPr>
          <a:lstStyle/>
          <a:p>
            <a:pPr algn="l">
              <a:spcAft>
                <a:spcPts val="0"/>
              </a:spcAft>
            </a:pPr>
            <a:r>
              <a:rPr sz="1500" b="1" i="0">
                <a:solidFill>
                  <a:srgbClr val="D9694A"/>
                </a:solidFill>
                <a:latin typeface="Calibri"/>
              </a:rPr>
              <a:t>DECIDING</a:t>
            </a:r>
          </a:p>
        </p:txBody>
      </p:sp>
      <p:sp>
        <p:nvSpPr>
          <p:cNvPr id="16" name="Oval 15"/>
          <p:cNvSpPr/>
          <p:nvPr/>
        </p:nvSpPr>
        <p:spPr>
          <a:xfrm>
            <a:off x="4571999" y="2377440"/>
            <a:ext cx="502920" cy="50292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7" name="TextBox 16"/>
          <p:cNvSpPr txBox="1"/>
          <p:nvPr/>
        </p:nvSpPr>
        <p:spPr>
          <a:xfrm>
            <a:off x="5212079" y="2331720"/>
            <a:ext cx="2468880" cy="457200"/>
          </a:xfrm>
          <a:prstGeom prst="rect">
            <a:avLst/>
          </a:prstGeom>
          <a:noFill/>
        </p:spPr>
        <p:txBody>
          <a:bodyPr wrap="square" anchor="t" lIns="0" rIns="0" tIns="0" bIns="0">
            <a:spAutoFit/>
          </a:bodyPr>
          <a:lstStyle/>
          <a:p>
            <a:pPr algn="l">
              <a:spcAft>
                <a:spcPts val="0"/>
              </a:spcAft>
            </a:pPr>
            <a:r>
              <a:rPr sz="1600" b="1" i="0">
                <a:solidFill>
                  <a:srgbClr val="1F2A2E"/>
                </a:solidFill>
                <a:latin typeface="Calibri"/>
              </a:rPr>
              <a:t>Who decides?</a:t>
            </a:r>
          </a:p>
        </p:txBody>
      </p:sp>
      <p:sp>
        <p:nvSpPr>
          <p:cNvPr id="18" name="TextBox 17"/>
          <p:cNvSpPr txBox="1"/>
          <p:nvPr/>
        </p:nvSpPr>
        <p:spPr>
          <a:xfrm>
            <a:off x="5212079" y="2761488"/>
            <a:ext cx="2468880" cy="3657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Decision rights</a:t>
            </a:r>
          </a:p>
        </p:txBody>
      </p:sp>
      <p:sp>
        <p:nvSpPr>
          <p:cNvPr id="19" name="Oval 18"/>
          <p:cNvSpPr/>
          <p:nvPr/>
        </p:nvSpPr>
        <p:spPr>
          <a:xfrm>
            <a:off x="4571999" y="3520440"/>
            <a:ext cx="502920" cy="50292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5212079" y="3474720"/>
            <a:ext cx="2468880" cy="457200"/>
          </a:xfrm>
          <a:prstGeom prst="rect">
            <a:avLst/>
          </a:prstGeom>
          <a:noFill/>
        </p:spPr>
        <p:txBody>
          <a:bodyPr wrap="square" anchor="t" lIns="0" rIns="0" tIns="0" bIns="0">
            <a:spAutoFit/>
          </a:bodyPr>
          <a:lstStyle/>
          <a:p>
            <a:pPr algn="l">
              <a:spcAft>
                <a:spcPts val="0"/>
              </a:spcAft>
            </a:pPr>
            <a:r>
              <a:rPr sz="1600" b="1" i="0">
                <a:solidFill>
                  <a:srgbClr val="1F2A2E"/>
                </a:solidFill>
                <a:latin typeface="Calibri"/>
              </a:rPr>
              <a:t>Who is accountable?</a:t>
            </a:r>
          </a:p>
        </p:txBody>
      </p:sp>
      <p:sp>
        <p:nvSpPr>
          <p:cNvPr id="21" name="TextBox 20"/>
          <p:cNvSpPr txBox="1"/>
          <p:nvPr/>
        </p:nvSpPr>
        <p:spPr>
          <a:xfrm>
            <a:off x="5212079" y="3904488"/>
            <a:ext cx="2468880" cy="3657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Authority and responsibility</a:t>
            </a:r>
          </a:p>
        </p:txBody>
      </p:sp>
      <p:sp>
        <p:nvSpPr>
          <p:cNvPr id="22" name="Rounded Rectangle 21"/>
          <p:cNvSpPr/>
          <p:nvPr/>
        </p:nvSpPr>
        <p:spPr>
          <a:xfrm>
            <a:off x="8046719" y="1691640"/>
            <a:ext cx="3520440" cy="416052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21040" y="1874519"/>
            <a:ext cx="3017520" cy="365760"/>
          </a:xfrm>
          <a:prstGeom prst="rect">
            <a:avLst/>
          </a:prstGeom>
          <a:noFill/>
        </p:spPr>
        <p:txBody>
          <a:bodyPr wrap="square" anchor="t" lIns="0" rIns="0" tIns="0" bIns="0">
            <a:spAutoFit/>
          </a:bodyPr>
          <a:lstStyle/>
          <a:p>
            <a:pPr algn="l">
              <a:spcAft>
                <a:spcPts val="0"/>
              </a:spcAft>
            </a:pPr>
            <a:r>
              <a:rPr sz="1500" b="1" i="0">
                <a:solidFill>
                  <a:srgbClr val="C98A1E"/>
                </a:solidFill>
                <a:latin typeface="Calibri"/>
              </a:rPr>
              <a:t>CONSEQUENCES</a:t>
            </a:r>
          </a:p>
        </p:txBody>
      </p:sp>
      <p:sp>
        <p:nvSpPr>
          <p:cNvPr id="24" name="Oval 23"/>
          <p:cNvSpPr/>
          <p:nvPr/>
        </p:nvSpPr>
        <p:spPr>
          <a:xfrm>
            <a:off x="8321040" y="2377440"/>
            <a:ext cx="502920" cy="50292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5" name="TextBox 24"/>
          <p:cNvSpPr txBox="1"/>
          <p:nvPr/>
        </p:nvSpPr>
        <p:spPr>
          <a:xfrm>
            <a:off x="8961119" y="2331720"/>
            <a:ext cx="2468880" cy="457200"/>
          </a:xfrm>
          <a:prstGeom prst="rect">
            <a:avLst/>
          </a:prstGeom>
          <a:noFill/>
        </p:spPr>
        <p:txBody>
          <a:bodyPr wrap="square" anchor="t" lIns="0" rIns="0" tIns="0" bIns="0">
            <a:spAutoFit/>
          </a:bodyPr>
          <a:lstStyle/>
          <a:p>
            <a:pPr algn="l">
              <a:spcAft>
                <a:spcPts val="0"/>
              </a:spcAft>
            </a:pPr>
            <a:r>
              <a:rPr sz="1600" b="1" i="0">
                <a:solidFill>
                  <a:srgbClr val="1F2A2E"/>
                </a:solidFill>
                <a:latin typeface="Calibri"/>
              </a:rPr>
              <a:t>How do people experience it?</a:t>
            </a:r>
          </a:p>
        </p:txBody>
      </p:sp>
      <p:sp>
        <p:nvSpPr>
          <p:cNvPr id="26" name="TextBox 25"/>
          <p:cNvSpPr txBox="1"/>
          <p:nvPr/>
        </p:nvSpPr>
        <p:spPr>
          <a:xfrm>
            <a:off x="8961119" y="3035808"/>
            <a:ext cx="2468880" cy="3657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Trust, motivation, stress</a:t>
            </a:r>
          </a:p>
        </p:txBody>
      </p:sp>
      <p:sp>
        <p:nvSpPr>
          <p:cNvPr id="27" name="Oval 26"/>
          <p:cNvSpPr/>
          <p:nvPr/>
        </p:nvSpPr>
        <p:spPr>
          <a:xfrm>
            <a:off x="8321040" y="3520440"/>
            <a:ext cx="502920" cy="50292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8" name="TextBox 27"/>
          <p:cNvSpPr txBox="1"/>
          <p:nvPr/>
        </p:nvSpPr>
        <p:spPr>
          <a:xfrm>
            <a:off x="8961119" y="3474720"/>
            <a:ext cx="2468880" cy="457200"/>
          </a:xfrm>
          <a:prstGeom prst="rect">
            <a:avLst/>
          </a:prstGeom>
          <a:noFill/>
        </p:spPr>
        <p:txBody>
          <a:bodyPr wrap="square" anchor="t" lIns="0" rIns="0" tIns="0" bIns="0">
            <a:spAutoFit/>
          </a:bodyPr>
          <a:lstStyle/>
          <a:p>
            <a:pPr algn="l">
              <a:spcAft>
                <a:spcPts val="0"/>
              </a:spcAft>
            </a:pPr>
            <a:r>
              <a:rPr sz="1600" b="1" i="0">
                <a:solidFill>
                  <a:srgbClr val="1F2A2E"/>
                </a:solidFill>
                <a:latin typeface="Calibri"/>
              </a:rPr>
              <a:t>Is it fair?</a:t>
            </a:r>
          </a:p>
        </p:txBody>
      </p:sp>
      <p:sp>
        <p:nvSpPr>
          <p:cNvPr id="29" name="TextBox 28"/>
          <p:cNvSpPr txBox="1"/>
          <p:nvPr/>
        </p:nvSpPr>
        <p:spPr>
          <a:xfrm>
            <a:off x="8961119" y="3904488"/>
            <a:ext cx="2468880" cy="3657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Fairness, diversity, inclusion</a:t>
            </a:r>
          </a:p>
        </p:txBody>
      </p:sp>
      <p:sp>
        <p:nvSpPr>
          <p:cNvPr id="30" name="Oval 29"/>
          <p:cNvSpPr/>
          <p:nvPr/>
        </p:nvSpPr>
        <p:spPr>
          <a:xfrm>
            <a:off x="8321040" y="4663440"/>
            <a:ext cx="502920" cy="50292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1" name="TextBox 30"/>
          <p:cNvSpPr txBox="1"/>
          <p:nvPr/>
        </p:nvSpPr>
        <p:spPr>
          <a:xfrm>
            <a:off x="8961119" y="4617720"/>
            <a:ext cx="2468880" cy="457200"/>
          </a:xfrm>
          <a:prstGeom prst="rect">
            <a:avLst/>
          </a:prstGeom>
          <a:noFill/>
        </p:spPr>
        <p:txBody>
          <a:bodyPr wrap="square" anchor="t" lIns="0" rIns="0" tIns="0" bIns="0">
            <a:spAutoFit/>
          </a:bodyPr>
          <a:lstStyle/>
          <a:p>
            <a:pPr algn="l">
              <a:spcAft>
                <a:spcPts val="0"/>
              </a:spcAft>
            </a:pPr>
            <a:r>
              <a:rPr sz="1600" b="1" i="0">
                <a:solidFill>
                  <a:srgbClr val="1F2A2E"/>
                </a:solidFill>
                <a:latin typeface="Calibri"/>
              </a:rPr>
              <a:t>Does the organization learn?</a:t>
            </a:r>
          </a:p>
        </p:txBody>
      </p:sp>
      <p:sp>
        <p:nvSpPr>
          <p:cNvPr id="32" name="TextBox 31"/>
          <p:cNvSpPr txBox="1"/>
          <p:nvPr/>
        </p:nvSpPr>
        <p:spPr>
          <a:xfrm>
            <a:off x="8961119" y="5047488"/>
            <a:ext cx="2468880" cy="3657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Culture, expertise, adaptation</a:t>
            </a:r>
          </a:p>
        </p:txBody>
      </p:sp>
      <p:sp>
        <p:nvSpPr>
          <p:cNvPr id="33" name="TextBox 32"/>
          <p:cNvSpPr txBox="1"/>
          <p:nvPr/>
        </p:nvSpPr>
        <p:spPr>
          <a:xfrm>
            <a:off x="548640" y="6035040"/>
            <a:ext cx="11064240" cy="411480"/>
          </a:xfrm>
          <a:prstGeom prst="rect">
            <a:avLst/>
          </a:prstGeom>
          <a:noFill/>
        </p:spPr>
        <p:txBody>
          <a:bodyPr wrap="square" anchor="t" lIns="0" rIns="0" tIns="0" bIns="0">
            <a:spAutoFit/>
          </a:bodyPr>
          <a:lstStyle/>
          <a:p>
            <a:pPr algn="ctr">
              <a:spcAft>
                <a:spcPts val="0"/>
              </a:spcAft>
            </a:pPr>
            <a:r>
              <a:rPr sz="1700" b="1" i="0">
                <a:solidFill>
                  <a:srgbClr val="1F2A2E"/>
                </a:solidFill>
                <a:latin typeface="Calibri"/>
              </a:rPr>
              <a:t>Asked at three levels:  Individual  ·  Group  ·  Organization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IV · THE JKD FRAMEWORK</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Seven questions, three levels</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6" name="Table 5"/>
          <p:cNvGraphicFramePr>
            <a:graphicFrameLocks noGrp="1"/>
          </p:cNvGraphicFramePr>
          <p:nvPr/>
        </p:nvGraphicFramePr>
        <p:xfrm>
          <a:off x="548640" y="1645920"/>
          <a:ext cx="11064240" cy="4389120"/>
        </p:xfrm>
        <a:graphic>
          <a:graphicData uri="http://schemas.openxmlformats.org/drawingml/2006/table">
            <a:tbl>
              <a:tblPr firstRow="1" bandRow="1">
                <a:tableStyleId>{5C22544A-7EE6-4342-B048-85BDC9FD1C3A}</a:tableStyleId>
              </a:tblPr>
              <a:tblGrid>
                <a:gridCol w="2834640"/>
                <a:gridCol w="2743200"/>
                <a:gridCol w="2743200"/>
                <a:gridCol w="2743200"/>
              </a:tblGrid>
              <a:tr h="548640">
                <a:tc>
                  <a:txBody>
                    <a:bodyPr wrap="square"/>
                    <a:lstStyle/>
                    <a:p>
                      <a:r>
                        <a:rPr sz="1300" b="1">
                          <a:solidFill>
                            <a:srgbClr val="FFFFFF"/>
                          </a:solidFill>
                          <a:latin typeface="Calibri"/>
                        </a:rPr>
                        <a:t>JKD question</a:t>
                      </a:r>
                    </a:p>
                  </a:txBody>
                  <a:tcPr marL="73152" marR="73152" marT="27432" marB="27432" anchor="ctr">
                    <a:solidFill>
                      <a:srgbClr val="1F2A2E"/>
                    </a:solidFill>
                  </a:tcPr>
                </a:tc>
                <a:tc>
                  <a:txBody>
                    <a:bodyPr wrap="square"/>
                    <a:lstStyle/>
                    <a:p>
                      <a:r>
                        <a:rPr sz="1300" b="1">
                          <a:solidFill>
                            <a:srgbClr val="FFFFFF"/>
                          </a:solidFill>
                          <a:latin typeface="Calibri"/>
                        </a:rPr>
                        <a:t>Individual</a:t>
                      </a:r>
                    </a:p>
                  </a:txBody>
                  <a:tcPr marL="73152" marR="73152" marT="27432" marB="27432" anchor="ctr">
                    <a:solidFill>
                      <a:srgbClr val="1F2A2E"/>
                    </a:solidFill>
                  </a:tcPr>
                </a:tc>
                <a:tc>
                  <a:txBody>
                    <a:bodyPr wrap="square"/>
                    <a:lstStyle/>
                    <a:p>
                      <a:r>
                        <a:rPr sz="1300" b="1">
                          <a:solidFill>
                            <a:srgbClr val="FFFFFF"/>
                          </a:solidFill>
                          <a:latin typeface="Calibri"/>
                        </a:rPr>
                        <a:t>Group</a:t>
                      </a:r>
                    </a:p>
                  </a:txBody>
                  <a:tcPr marL="73152" marR="73152" marT="27432" marB="27432" anchor="ctr">
                    <a:solidFill>
                      <a:srgbClr val="1F2A2E"/>
                    </a:solidFill>
                  </a:tcPr>
                </a:tc>
                <a:tc>
                  <a:txBody>
                    <a:bodyPr wrap="square"/>
                    <a:lstStyle/>
                    <a:p>
                      <a:r>
                        <a:rPr sz="1300" b="1">
                          <a:solidFill>
                            <a:srgbClr val="FFFFFF"/>
                          </a:solidFill>
                          <a:latin typeface="Calibri"/>
                        </a:rPr>
                        <a:t>Organization</a:t>
                      </a:r>
                    </a:p>
                  </a:txBody>
                  <a:tcPr marL="73152" marR="73152" marT="27432" marB="27432" anchor="ctr">
                    <a:solidFill>
                      <a:srgbClr val="1F2A2E"/>
                    </a:solidFill>
                  </a:tcPr>
                </a:tc>
              </a:tr>
              <a:tr h="548640">
                <a:tc>
                  <a:txBody>
                    <a:bodyPr wrap="square"/>
                    <a:lstStyle/>
                    <a:p>
                      <a:r>
                        <a:rPr sz="1300" b="1">
                          <a:solidFill>
                            <a:srgbClr val="1F2A2E"/>
                          </a:solidFill>
                          <a:latin typeface="Calibri"/>
                        </a:rPr>
                        <a:t>1. Who knows?</a:t>
                      </a:r>
                    </a:p>
                  </a:txBody>
                  <a:tcPr marL="73152" marR="73152" marT="27432" marB="27432" anchor="ctr">
                    <a:solidFill>
                      <a:srgbClr val="FFFFFF"/>
                    </a:solidFill>
                  </a:tcPr>
                </a:tc>
                <a:tc>
                  <a:txBody>
                    <a:bodyPr wrap="square"/>
                    <a:lstStyle/>
                    <a:p>
                      <a:r>
                        <a:rPr sz="1300" b="0">
                          <a:solidFill>
                            <a:srgbClr val="1F2A2E"/>
                          </a:solidFill>
                          <a:latin typeface="Calibri"/>
                        </a:rPr>
                        <a:t>What do I know vs. the AI?</a:t>
                      </a:r>
                    </a:p>
                  </a:txBody>
                  <a:tcPr marL="73152" marR="73152" marT="27432" marB="27432" anchor="ctr">
                    <a:solidFill>
                      <a:srgbClr val="FFFFFF"/>
                    </a:solidFill>
                  </a:tcPr>
                </a:tc>
                <a:tc>
                  <a:txBody>
                    <a:bodyPr wrap="square"/>
                    <a:lstStyle/>
                    <a:p>
                      <a:r>
                        <a:rPr sz="1300" b="0">
                          <a:solidFill>
                            <a:srgbClr val="1F2A2E"/>
                          </a:solidFill>
                          <a:latin typeface="Calibri"/>
                        </a:rPr>
                        <a:t>What does the team know with AI?</a:t>
                      </a:r>
                    </a:p>
                  </a:txBody>
                  <a:tcPr marL="73152" marR="73152" marT="27432" marB="27432" anchor="ctr">
                    <a:solidFill>
                      <a:srgbClr val="FFFFFF"/>
                    </a:solidFill>
                  </a:tcPr>
                </a:tc>
                <a:tc>
                  <a:txBody>
                    <a:bodyPr wrap="square"/>
                    <a:lstStyle/>
                    <a:p>
                      <a:r>
                        <a:rPr sz="1300" b="0">
                          <a:solidFill>
                            <a:srgbClr val="1F2A2E"/>
                          </a:solidFill>
                          <a:latin typeface="Calibri"/>
                        </a:rPr>
                        <a:t>Where does knowledge reside?</a:t>
                      </a:r>
                    </a:p>
                  </a:txBody>
                  <a:tcPr marL="73152" marR="73152" marT="27432" marB="27432" anchor="ctr">
                    <a:solidFill>
                      <a:srgbClr val="FFFFFF"/>
                    </a:solidFill>
                  </a:tcPr>
                </a:tc>
              </a:tr>
              <a:tr h="548640">
                <a:tc>
                  <a:txBody>
                    <a:bodyPr wrap="square"/>
                    <a:lstStyle/>
                    <a:p>
                      <a:r>
                        <a:rPr sz="1300" b="1">
                          <a:solidFill>
                            <a:srgbClr val="1F2A2E"/>
                          </a:solidFill>
                          <a:latin typeface="Calibri"/>
                        </a:rPr>
                        <a:t>2. How is knowledge built?</a:t>
                      </a:r>
                    </a:p>
                  </a:txBody>
                  <a:tcPr marL="73152" marR="73152" marT="27432" marB="27432" anchor="ctr">
                    <a:solidFill>
                      <a:srgbClr val="EEF3F1"/>
                    </a:solidFill>
                  </a:tcPr>
                </a:tc>
                <a:tc>
                  <a:txBody>
                    <a:bodyPr wrap="square"/>
                    <a:lstStyle/>
                    <a:p>
                      <a:r>
                        <a:rPr sz="1300" b="0">
                          <a:solidFill>
                            <a:srgbClr val="1F2A2E"/>
                          </a:solidFill>
                          <a:latin typeface="Calibri"/>
                        </a:rPr>
                        <a:t>Am I learning or outsourcing?</a:t>
                      </a:r>
                    </a:p>
                  </a:txBody>
                  <a:tcPr marL="73152" marR="73152" marT="27432" marB="27432" anchor="ctr">
                    <a:solidFill>
                      <a:srgbClr val="EEF3F1"/>
                    </a:solidFill>
                  </a:tcPr>
                </a:tc>
                <a:tc>
                  <a:txBody>
                    <a:bodyPr wrap="square"/>
                    <a:lstStyle/>
                    <a:p>
                      <a:r>
                        <a:rPr sz="1300" b="0">
                          <a:solidFill>
                            <a:srgbClr val="1F2A2E"/>
                          </a:solidFill>
                          <a:latin typeface="Calibri"/>
                        </a:rPr>
                        <a:t>Does AI help pool knowledge?</a:t>
                      </a:r>
                    </a:p>
                  </a:txBody>
                  <a:tcPr marL="73152" marR="73152" marT="27432" marB="27432" anchor="ctr">
                    <a:solidFill>
                      <a:srgbClr val="EEF3F1"/>
                    </a:solidFill>
                  </a:tcPr>
                </a:tc>
                <a:tc>
                  <a:txBody>
                    <a:bodyPr wrap="square"/>
                    <a:lstStyle/>
                    <a:p>
                      <a:r>
                        <a:rPr sz="1300" b="0">
                          <a:solidFill>
                            <a:srgbClr val="1F2A2E"/>
                          </a:solidFill>
                          <a:latin typeface="Calibri"/>
                        </a:rPr>
                        <a:t>Is AI knowledge captured and checked?</a:t>
                      </a:r>
                    </a:p>
                  </a:txBody>
                  <a:tcPr marL="73152" marR="73152" marT="27432" marB="27432" anchor="ctr">
                    <a:solidFill>
                      <a:srgbClr val="EEF3F1"/>
                    </a:solidFill>
                  </a:tcPr>
                </a:tc>
              </a:tr>
              <a:tr h="548640">
                <a:tc>
                  <a:txBody>
                    <a:bodyPr wrap="square"/>
                    <a:lstStyle/>
                    <a:p>
                      <a:r>
                        <a:rPr sz="1300" b="1">
                          <a:solidFill>
                            <a:srgbClr val="1F2A2E"/>
                          </a:solidFill>
                          <a:latin typeface="Calibri"/>
                        </a:rPr>
                        <a:t>3. Who decides?</a:t>
                      </a:r>
                    </a:p>
                  </a:txBody>
                  <a:tcPr marL="73152" marR="73152" marT="27432" marB="27432" anchor="ctr">
                    <a:solidFill>
                      <a:srgbClr val="FFFFFF"/>
                    </a:solidFill>
                  </a:tcPr>
                </a:tc>
                <a:tc>
                  <a:txBody>
                    <a:bodyPr wrap="square"/>
                    <a:lstStyle/>
                    <a:p>
                      <a:r>
                        <a:rPr sz="1300" b="0">
                          <a:solidFill>
                            <a:srgbClr val="1F2A2E"/>
                          </a:solidFill>
                          <a:latin typeface="Calibri"/>
                        </a:rPr>
                        <a:t>When do I follow AI advice?</a:t>
                      </a:r>
                    </a:p>
                  </a:txBody>
                  <a:tcPr marL="73152" marR="73152" marT="27432" marB="27432" anchor="ctr">
                    <a:solidFill>
                      <a:srgbClr val="FFFFFF"/>
                    </a:solidFill>
                  </a:tcPr>
                </a:tc>
                <a:tc>
                  <a:txBody>
                    <a:bodyPr wrap="square"/>
                    <a:lstStyle/>
                    <a:p>
                      <a:r>
                        <a:rPr sz="1300" b="0">
                          <a:solidFill>
                            <a:srgbClr val="1F2A2E"/>
                          </a:solidFill>
                          <a:latin typeface="Calibri"/>
                        </a:rPr>
                        <a:t>How do teams decide with AI?</a:t>
                      </a:r>
                    </a:p>
                  </a:txBody>
                  <a:tcPr marL="73152" marR="73152" marT="27432" marB="27432" anchor="ctr">
                    <a:solidFill>
                      <a:srgbClr val="FFFFFF"/>
                    </a:solidFill>
                  </a:tcPr>
                </a:tc>
                <a:tc>
                  <a:txBody>
                    <a:bodyPr wrap="square"/>
                    <a:lstStyle/>
                    <a:p>
                      <a:r>
                        <a:rPr sz="1300" b="0">
                          <a:solidFill>
                            <a:srgbClr val="1F2A2E"/>
                          </a:solidFill>
                          <a:latin typeface="Calibri"/>
                        </a:rPr>
                        <a:t>What decision rights go to AI?</a:t>
                      </a:r>
                    </a:p>
                  </a:txBody>
                  <a:tcPr marL="73152" marR="73152" marT="27432" marB="27432" anchor="ctr">
                    <a:solidFill>
                      <a:srgbClr val="FFFFFF"/>
                    </a:solidFill>
                  </a:tcPr>
                </a:tc>
              </a:tr>
              <a:tr h="548640">
                <a:tc>
                  <a:txBody>
                    <a:bodyPr wrap="square"/>
                    <a:lstStyle/>
                    <a:p>
                      <a:r>
                        <a:rPr sz="1300" b="1">
                          <a:solidFill>
                            <a:srgbClr val="1F2A2E"/>
                          </a:solidFill>
                          <a:latin typeface="Calibri"/>
                        </a:rPr>
                        <a:t>4. Who is accountable?</a:t>
                      </a:r>
                    </a:p>
                  </a:txBody>
                  <a:tcPr marL="73152" marR="73152" marT="27432" marB="27432" anchor="ctr">
                    <a:solidFill>
                      <a:srgbClr val="EEF3F1"/>
                    </a:solidFill>
                  </a:tcPr>
                </a:tc>
                <a:tc>
                  <a:txBody>
                    <a:bodyPr wrap="square"/>
                    <a:lstStyle/>
                    <a:p>
                      <a:r>
                        <a:rPr sz="1300" b="0">
                          <a:solidFill>
                            <a:srgbClr val="1F2A2E"/>
                          </a:solidFill>
                          <a:latin typeface="Calibri"/>
                        </a:rPr>
                        <a:t>Am I responsible for AI-shaped choices?</a:t>
                      </a:r>
                    </a:p>
                  </a:txBody>
                  <a:tcPr marL="73152" marR="73152" marT="27432" marB="27432" anchor="ctr">
                    <a:solidFill>
                      <a:srgbClr val="EEF3F1"/>
                    </a:solidFill>
                  </a:tcPr>
                </a:tc>
                <a:tc>
                  <a:txBody>
                    <a:bodyPr wrap="square"/>
                    <a:lstStyle/>
                    <a:p>
                      <a:r>
                        <a:rPr sz="1300" b="0">
                          <a:solidFill>
                            <a:srgbClr val="1F2A2E"/>
                          </a:solidFill>
                          <a:latin typeface="Calibri"/>
                        </a:rPr>
                        <a:t>Who owns team decisions?</a:t>
                      </a:r>
                    </a:p>
                  </a:txBody>
                  <a:tcPr marL="73152" marR="73152" marT="27432" marB="27432" anchor="ctr">
                    <a:solidFill>
                      <a:srgbClr val="EEF3F1"/>
                    </a:solidFill>
                  </a:tcPr>
                </a:tc>
                <a:tc>
                  <a:txBody>
                    <a:bodyPr wrap="square"/>
                    <a:lstStyle/>
                    <a:p>
                      <a:r>
                        <a:rPr sz="1300" b="0">
                          <a:solidFill>
                            <a:srgbClr val="1F2A2E"/>
                          </a:solidFill>
                          <a:latin typeface="Calibri"/>
                        </a:rPr>
                        <a:t>What governance assigns responsibility?</a:t>
                      </a:r>
                    </a:p>
                  </a:txBody>
                  <a:tcPr marL="73152" marR="73152" marT="27432" marB="27432" anchor="ctr">
                    <a:solidFill>
                      <a:srgbClr val="EEF3F1"/>
                    </a:solidFill>
                  </a:tcPr>
                </a:tc>
              </a:tr>
              <a:tr h="548640">
                <a:tc>
                  <a:txBody>
                    <a:bodyPr wrap="square"/>
                    <a:lstStyle/>
                    <a:p>
                      <a:r>
                        <a:rPr sz="1300" b="1">
                          <a:solidFill>
                            <a:srgbClr val="1F2A2E"/>
                          </a:solidFill>
                          <a:latin typeface="Calibri"/>
                        </a:rPr>
                        <a:t>5. How do people experience it?</a:t>
                      </a:r>
                    </a:p>
                  </a:txBody>
                  <a:tcPr marL="73152" marR="73152" marT="27432" marB="27432" anchor="ctr">
                    <a:solidFill>
                      <a:srgbClr val="FFFFFF"/>
                    </a:solidFill>
                  </a:tcPr>
                </a:tc>
                <a:tc>
                  <a:txBody>
                    <a:bodyPr wrap="square"/>
                    <a:lstStyle/>
                    <a:p>
                      <a:r>
                        <a:rPr sz="1300" b="0">
                          <a:solidFill>
                            <a:srgbClr val="1F2A2E"/>
                          </a:solidFill>
                          <a:latin typeface="Calibri"/>
                        </a:rPr>
                        <a:t>Trust, motivation, stress</a:t>
                      </a:r>
                    </a:p>
                  </a:txBody>
                  <a:tcPr marL="73152" marR="73152" marT="27432" marB="27432" anchor="ctr">
                    <a:solidFill>
                      <a:srgbClr val="FFFFFF"/>
                    </a:solidFill>
                  </a:tcPr>
                </a:tc>
                <a:tc>
                  <a:txBody>
                    <a:bodyPr wrap="square"/>
                    <a:lstStyle/>
                    <a:p>
                      <a:r>
                        <a:rPr sz="1300" b="0">
                          <a:solidFill>
                            <a:srgbClr val="1F2A2E"/>
                          </a:solidFill>
                          <a:latin typeface="Calibri"/>
                        </a:rPr>
                        <a:t>Team trust and cohesion</a:t>
                      </a:r>
                    </a:p>
                  </a:txBody>
                  <a:tcPr marL="73152" marR="73152" marT="27432" marB="27432" anchor="ctr">
                    <a:solidFill>
                      <a:srgbClr val="FFFFFF"/>
                    </a:solidFill>
                  </a:tcPr>
                </a:tc>
                <a:tc>
                  <a:txBody>
                    <a:bodyPr wrap="square"/>
                    <a:lstStyle/>
                    <a:p>
                      <a:r>
                        <a:rPr sz="1300" b="0">
                          <a:solidFill>
                            <a:srgbClr val="1F2A2E"/>
                          </a:solidFill>
                          <a:latin typeface="Calibri"/>
                        </a:rPr>
                        <a:t>Climate and well-being</a:t>
                      </a:r>
                    </a:p>
                  </a:txBody>
                  <a:tcPr marL="73152" marR="73152" marT="27432" marB="27432" anchor="ctr">
                    <a:solidFill>
                      <a:srgbClr val="FFFFFF"/>
                    </a:solidFill>
                  </a:tcPr>
                </a:tc>
              </a:tr>
              <a:tr h="548640">
                <a:tc>
                  <a:txBody>
                    <a:bodyPr wrap="square"/>
                    <a:lstStyle/>
                    <a:p>
                      <a:r>
                        <a:rPr sz="1300" b="1">
                          <a:solidFill>
                            <a:srgbClr val="1F2A2E"/>
                          </a:solidFill>
                          <a:latin typeface="Calibri"/>
                        </a:rPr>
                        <a:t>6. Is it fair?</a:t>
                      </a:r>
                    </a:p>
                  </a:txBody>
                  <a:tcPr marL="73152" marR="73152" marT="27432" marB="27432" anchor="ctr">
                    <a:solidFill>
                      <a:srgbClr val="EEF3F1"/>
                    </a:solidFill>
                  </a:tcPr>
                </a:tc>
                <a:tc>
                  <a:txBody>
                    <a:bodyPr wrap="square"/>
                    <a:lstStyle/>
                    <a:p>
                      <a:r>
                        <a:rPr sz="1300" b="0">
                          <a:solidFill>
                            <a:srgbClr val="1F2A2E"/>
                          </a:solidFill>
                          <a:latin typeface="Calibri"/>
                        </a:rPr>
                        <a:t>Am I treated fairly by AI?</a:t>
                      </a:r>
                    </a:p>
                  </a:txBody>
                  <a:tcPr marL="73152" marR="73152" marT="27432" marB="27432" anchor="ctr">
                    <a:solidFill>
                      <a:srgbClr val="EEF3F1"/>
                    </a:solidFill>
                  </a:tcPr>
                </a:tc>
                <a:tc>
                  <a:txBody>
                    <a:bodyPr wrap="square"/>
                    <a:lstStyle/>
                    <a:p>
                      <a:r>
                        <a:rPr sz="1300" b="0">
                          <a:solidFill>
                            <a:srgbClr val="1F2A2E"/>
                          </a:solidFill>
                          <a:latin typeface="Calibri"/>
                        </a:rPr>
                        <a:t>Are members treated equally?</a:t>
                      </a:r>
                    </a:p>
                  </a:txBody>
                  <a:tcPr marL="73152" marR="73152" marT="27432" marB="27432" anchor="ctr">
                    <a:solidFill>
                      <a:srgbClr val="EEF3F1"/>
                    </a:solidFill>
                  </a:tcPr>
                </a:tc>
                <a:tc>
                  <a:txBody>
                    <a:bodyPr wrap="square"/>
                    <a:lstStyle/>
                    <a:p>
                      <a:r>
                        <a:rPr sz="1300" b="0">
                          <a:solidFill>
                            <a:srgbClr val="1F2A2E"/>
                          </a:solidFill>
                          <a:latin typeface="Calibri"/>
                        </a:rPr>
                        <a:t>Are systems fair across groups?</a:t>
                      </a:r>
                    </a:p>
                  </a:txBody>
                  <a:tcPr marL="73152" marR="73152" marT="27432" marB="27432" anchor="ctr">
                    <a:solidFill>
                      <a:srgbClr val="EEF3F1"/>
                    </a:solidFill>
                  </a:tcPr>
                </a:tc>
              </a:tr>
              <a:tr h="548640">
                <a:tc>
                  <a:txBody>
                    <a:bodyPr wrap="square"/>
                    <a:lstStyle/>
                    <a:p>
                      <a:r>
                        <a:rPr sz="1300" b="1">
                          <a:solidFill>
                            <a:srgbClr val="1F2A2E"/>
                          </a:solidFill>
                          <a:latin typeface="Calibri"/>
                        </a:rPr>
                        <a:t>7. Does the organization learn?</a:t>
                      </a:r>
                    </a:p>
                  </a:txBody>
                  <a:tcPr marL="73152" marR="73152" marT="27432" marB="27432" anchor="ctr">
                    <a:solidFill>
                      <a:srgbClr val="FFFFFF"/>
                    </a:solidFill>
                  </a:tcPr>
                </a:tc>
                <a:tc>
                  <a:txBody>
                    <a:bodyPr wrap="square"/>
                    <a:lstStyle/>
                    <a:p>
                      <a:r>
                        <a:rPr sz="1300" b="0">
                          <a:solidFill>
                            <a:srgbClr val="1F2A2E"/>
                          </a:solidFill>
                          <a:latin typeface="Calibri"/>
                        </a:rPr>
                        <a:t>Do I keep building expertise?</a:t>
                      </a:r>
                    </a:p>
                  </a:txBody>
                  <a:tcPr marL="73152" marR="73152" marT="27432" marB="27432" anchor="ctr">
                    <a:solidFill>
                      <a:srgbClr val="FFFFFF"/>
                    </a:solidFill>
                  </a:tcPr>
                </a:tc>
                <a:tc>
                  <a:txBody>
                    <a:bodyPr wrap="square"/>
                    <a:lstStyle/>
                    <a:p>
                      <a:r>
                        <a:rPr sz="1300" b="0">
                          <a:solidFill>
                            <a:srgbClr val="1F2A2E"/>
                          </a:solidFill>
                          <a:latin typeface="Calibri"/>
                        </a:rPr>
                        <a:t>Can the team question AI?</a:t>
                      </a:r>
                    </a:p>
                  </a:txBody>
                  <a:tcPr marL="73152" marR="73152" marT="27432" marB="27432" anchor="ctr">
                    <a:solidFill>
                      <a:srgbClr val="FFFFFF"/>
                    </a:solidFill>
                  </a:tcPr>
                </a:tc>
                <a:tc>
                  <a:txBody>
                    <a:bodyPr wrap="square"/>
                    <a:lstStyle/>
                    <a:p>
                      <a:r>
                        <a:rPr sz="1300" b="0">
                          <a:solidFill>
                            <a:srgbClr val="1F2A2E"/>
                          </a:solidFill>
                          <a:latin typeface="Calibri"/>
                        </a:rPr>
                        <a:t>Does the culture support adaptation?</a:t>
                      </a:r>
                    </a:p>
                  </a:txBody>
                  <a:tcPr marL="73152" marR="73152"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IV · THE JKD FRAMEWORK</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Where each question takes center stage</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6052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1</a:t>
            </a:r>
          </a:p>
        </p:txBody>
      </p:sp>
      <p:sp>
        <p:nvSpPr>
          <p:cNvPr id="7" name="TextBox 6"/>
          <p:cNvSpPr txBox="1"/>
          <p:nvPr/>
        </p:nvSpPr>
        <p:spPr>
          <a:xfrm>
            <a:off x="489204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2</a:t>
            </a:r>
          </a:p>
        </p:txBody>
      </p:sp>
      <p:sp>
        <p:nvSpPr>
          <p:cNvPr id="8" name="TextBox 7"/>
          <p:cNvSpPr txBox="1"/>
          <p:nvPr/>
        </p:nvSpPr>
        <p:spPr>
          <a:xfrm>
            <a:off x="562356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3</a:t>
            </a:r>
          </a:p>
        </p:txBody>
      </p:sp>
      <p:sp>
        <p:nvSpPr>
          <p:cNvPr id="9" name="TextBox 8"/>
          <p:cNvSpPr txBox="1"/>
          <p:nvPr/>
        </p:nvSpPr>
        <p:spPr>
          <a:xfrm>
            <a:off x="635508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4</a:t>
            </a:r>
          </a:p>
        </p:txBody>
      </p:sp>
      <p:sp>
        <p:nvSpPr>
          <p:cNvPr id="10" name="TextBox 9"/>
          <p:cNvSpPr txBox="1"/>
          <p:nvPr/>
        </p:nvSpPr>
        <p:spPr>
          <a:xfrm>
            <a:off x="708660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5</a:t>
            </a:r>
          </a:p>
        </p:txBody>
      </p:sp>
      <p:sp>
        <p:nvSpPr>
          <p:cNvPr id="11" name="TextBox 10"/>
          <p:cNvSpPr txBox="1"/>
          <p:nvPr/>
        </p:nvSpPr>
        <p:spPr>
          <a:xfrm>
            <a:off x="781812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6</a:t>
            </a:r>
          </a:p>
        </p:txBody>
      </p:sp>
      <p:sp>
        <p:nvSpPr>
          <p:cNvPr id="12" name="TextBox 11"/>
          <p:cNvSpPr txBox="1"/>
          <p:nvPr/>
        </p:nvSpPr>
        <p:spPr>
          <a:xfrm>
            <a:off x="854964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7</a:t>
            </a:r>
          </a:p>
        </p:txBody>
      </p:sp>
      <p:sp>
        <p:nvSpPr>
          <p:cNvPr id="13" name="TextBox 12"/>
          <p:cNvSpPr txBox="1"/>
          <p:nvPr/>
        </p:nvSpPr>
        <p:spPr>
          <a:xfrm>
            <a:off x="928116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8</a:t>
            </a:r>
          </a:p>
        </p:txBody>
      </p:sp>
      <p:sp>
        <p:nvSpPr>
          <p:cNvPr id="14" name="TextBox 13"/>
          <p:cNvSpPr txBox="1"/>
          <p:nvPr/>
        </p:nvSpPr>
        <p:spPr>
          <a:xfrm>
            <a:off x="1001268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9</a:t>
            </a:r>
          </a:p>
        </p:txBody>
      </p:sp>
      <p:sp>
        <p:nvSpPr>
          <p:cNvPr id="15" name="TextBox 14"/>
          <p:cNvSpPr txBox="1"/>
          <p:nvPr/>
        </p:nvSpPr>
        <p:spPr>
          <a:xfrm>
            <a:off x="10744200" y="1600200"/>
            <a:ext cx="731520" cy="320040"/>
          </a:xfrm>
          <a:prstGeom prst="rect">
            <a:avLst/>
          </a:prstGeom>
          <a:noFill/>
        </p:spPr>
        <p:txBody>
          <a:bodyPr wrap="square" anchor="t" lIns="0" rIns="0" tIns="0" bIns="0">
            <a:spAutoFit/>
          </a:bodyPr>
          <a:lstStyle/>
          <a:p>
            <a:pPr algn="ctr">
              <a:spcAft>
                <a:spcPts val="0"/>
              </a:spcAft>
            </a:pPr>
            <a:r>
              <a:rPr sz="1200" b="1" i="0">
                <a:solidFill>
                  <a:srgbClr val="5B6B70"/>
                </a:solidFill>
                <a:latin typeface="Calibri"/>
              </a:rPr>
              <a:t>Wk 10</a:t>
            </a:r>
          </a:p>
        </p:txBody>
      </p:sp>
      <p:sp>
        <p:nvSpPr>
          <p:cNvPr id="16" name="TextBox 15"/>
          <p:cNvSpPr txBox="1"/>
          <p:nvPr/>
        </p:nvSpPr>
        <p:spPr>
          <a:xfrm>
            <a:off x="548640" y="2011680"/>
            <a:ext cx="3474720" cy="548640"/>
          </a:xfrm>
          <a:prstGeom prst="rect">
            <a:avLst/>
          </a:prstGeom>
          <a:noFill/>
        </p:spPr>
        <p:txBody>
          <a:bodyPr wrap="square" anchor="ctr" lIns="0" rIns="0" tIns="0" bIns="0">
            <a:spAutoFit/>
          </a:bodyPr>
          <a:lstStyle/>
          <a:p>
            <a:pPr algn="l">
              <a:spcAft>
                <a:spcPts val="0"/>
              </a:spcAft>
            </a:pPr>
            <a:r>
              <a:rPr sz="1400" b="1" i="0">
                <a:solidFill>
                  <a:srgbClr val="2E8B7A"/>
                </a:solidFill>
                <a:latin typeface="Calibri"/>
              </a:rPr>
              <a:t>1  Who knows?</a:t>
            </a:r>
          </a:p>
        </p:txBody>
      </p:sp>
      <p:sp>
        <p:nvSpPr>
          <p:cNvPr id="17" name="Oval 16"/>
          <p:cNvSpPr/>
          <p:nvPr/>
        </p:nvSpPr>
        <p:spPr>
          <a:xfrm>
            <a:off x="4361688" y="212140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193792" y="22219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824728" y="212140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656832" y="22219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388352" y="22219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119872" y="22219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851392" y="22219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582912" y="22219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213848" y="212140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945368" y="212140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2560320"/>
            <a:ext cx="3474720" cy="548640"/>
          </a:xfrm>
          <a:prstGeom prst="rect">
            <a:avLst/>
          </a:prstGeom>
          <a:noFill/>
        </p:spPr>
        <p:txBody>
          <a:bodyPr wrap="square" anchor="ctr" lIns="0" rIns="0" tIns="0" bIns="0">
            <a:spAutoFit/>
          </a:bodyPr>
          <a:lstStyle/>
          <a:p>
            <a:pPr algn="l">
              <a:spcAft>
                <a:spcPts val="0"/>
              </a:spcAft>
            </a:pPr>
            <a:r>
              <a:rPr sz="1400" b="1" i="0">
                <a:solidFill>
                  <a:srgbClr val="2E8B7A"/>
                </a:solidFill>
                <a:latin typeface="Calibri"/>
              </a:rPr>
              <a:t>2  How is knowledge built?</a:t>
            </a:r>
          </a:p>
        </p:txBody>
      </p:sp>
      <p:sp>
        <p:nvSpPr>
          <p:cNvPr id="28" name="Oval 27"/>
          <p:cNvSpPr/>
          <p:nvPr/>
        </p:nvSpPr>
        <p:spPr>
          <a:xfrm>
            <a:off x="4361688" y="267004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5193792" y="277063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5824728" y="267004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656832" y="277063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388352" y="277063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019288" y="267004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851392" y="277063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9582912" y="277063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0314432" y="277063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0945368" y="2670048"/>
            <a:ext cx="329184" cy="329184"/>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48640" y="3108960"/>
            <a:ext cx="3474720" cy="548640"/>
          </a:xfrm>
          <a:prstGeom prst="rect">
            <a:avLst/>
          </a:prstGeom>
          <a:noFill/>
        </p:spPr>
        <p:txBody>
          <a:bodyPr wrap="square" anchor="ctr" lIns="0" rIns="0" tIns="0" bIns="0">
            <a:spAutoFit/>
          </a:bodyPr>
          <a:lstStyle/>
          <a:p>
            <a:pPr algn="l">
              <a:spcAft>
                <a:spcPts val="0"/>
              </a:spcAft>
            </a:pPr>
            <a:r>
              <a:rPr sz="1400" b="1" i="0">
                <a:solidFill>
                  <a:srgbClr val="D9694A"/>
                </a:solidFill>
                <a:latin typeface="Calibri"/>
              </a:rPr>
              <a:t>3  Who decides?</a:t>
            </a:r>
          </a:p>
        </p:txBody>
      </p:sp>
      <p:sp>
        <p:nvSpPr>
          <p:cNvPr id="39" name="Oval 38"/>
          <p:cNvSpPr/>
          <p:nvPr/>
        </p:nvSpPr>
        <p:spPr>
          <a:xfrm>
            <a:off x="4361688" y="321868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5193792" y="331927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925312" y="331927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6656832" y="331927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287768" y="321868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8019288" y="321868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851392" y="331927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9582912" y="331927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0314432" y="331927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945368" y="321868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48640" y="3657600"/>
            <a:ext cx="3474720" cy="548640"/>
          </a:xfrm>
          <a:prstGeom prst="rect">
            <a:avLst/>
          </a:prstGeom>
          <a:noFill/>
        </p:spPr>
        <p:txBody>
          <a:bodyPr wrap="square" anchor="ctr" lIns="0" rIns="0" tIns="0" bIns="0">
            <a:spAutoFit/>
          </a:bodyPr>
          <a:lstStyle/>
          <a:p>
            <a:pPr algn="l">
              <a:spcAft>
                <a:spcPts val="0"/>
              </a:spcAft>
            </a:pPr>
            <a:r>
              <a:rPr sz="1400" b="1" i="0">
                <a:solidFill>
                  <a:srgbClr val="D9694A"/>
                </a:solidFill>
                <a:latin typeface="Calibri"/>
              </a:rPr>
              <a:t>4  Who is accountable?</a:t>
            </a:r>
          </a:p>
        </p:txBody>
      </p:sp>
      <p:sp>
        <p:nvSpPr>
          <p:cNvPr id="50" name="Oval 49"/>
          <p:cNvSpPr/>
          <p:nvPr/>
        </p:nvSpPr>
        <p:spPr>
          <a:xfrm>
            <a:off x="4361688" y="376732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5193792" y="386791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5925312" y="386791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6656832" y="386791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7287768" y="376732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119872" y="386791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8750808" y="376732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9582912" y="386791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10314432" y="386791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10945368" y="3767328"/>
            <a:ext cx="329184" cy="329184"/>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548640" y="4206240"/>
            <a:ext cx="3474720" cy="548640"/>
          </a:xfrm>
          <a:prstGeom prst="rect">
            <a:avLst/>
          </a:prstGeom>
          <a:noFill/>
        </p:spPr>
        <p:txBody>
          <a:bodyPr wrap="square" anchor="ctr" lIns="0" rIns="0" tIns="0" bIns="0">
            <a:spAutoFit/>
          </a:bodyPr>
          <a:lstStyle/>
          <a:p>
            <a:pPr algn="l">
              <a:spcAft>
                <a:spcPts val="0"/>
              </a:spcAft>
            </a:pPr>
            <a:r>
              <a:rPr sz="1400" b="1" i="0">
                <a:solidFill>
                  <a:srgbClr val="C98A1E"/>
                </a:solidFill>
                <a:latin typeface="Calibri"/>
              </a:rPr>
              <a:t>5  How do people experience it?</a:t>
            </a:r>
          </a:p>
        </p:txBody>
      </p:sp>
      <p:sp>
        <p:nvSpPr>
          <p:cNvPr id="61" name="Oval 60"/>
          <p:cNvSpPr/>
          <p:nvPr/>
        </p:nvSpPr>
        <p:spPr>
          <a:xfrm>
            <a:off x="4361688" y="431596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5093207" y="431596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5925312" y="441655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56248" y="431596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7388352" y="441655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8119872" y="441655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8750808" y="431596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Oval 67"/>
          <p:cNvSpPr/>
          <p:nvPr/>
        </p:nvSpPr>
        <p:spPr>
          <a:xfrm>
            <a:off x="9582912" y="441655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10314432" y="441655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Oval 69"/>
          <p:cNvSpPr/>
          <p:nvPr/>
        </p:nvSpPr>
        <p:spPr>
          <a:xfrm>
            <a:off x="10945368" y="431596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548640" y="4754880"/>
            <a:ext cx="3474720" cy="548640"/>
          </a:xfrm>
          <a:prstGeom prst="rect">
            <a:avLst/>
          </a:prstGeom>
          <a:noFill/>
        </p:spPr>
        <p:txBody>
          <a:bodyPr wrap="square" anchor="ctr" lIns="0" rIns="0" tIns="0" bIns="0">
            <a:spAutoFit/>
          </a:bodyPr>
          <a:lstStyle/>
          <a:p>
            <a:pPr algn="l">
              <a:spcAft>
                <a:spcPts val="0"/>
              </a:spcAft>
            </a:pPr>
            <a:r>
              <a:rPr sz="1400" b="1" i="0">
                <a:solidFill>
                  <a:srgbClr val="C98A1E"/>
                </a:solidFill>
                <a:latin typeface="Calibri"/>
              </a:rPr>
              <a:t>6  Is it fair?</a:t>
            </a:r>
          </a:p>
        </p:txBody>
      </p:sp>
      <p:sp>
        <p:nvSpPr>
          <p:cNvPr id="72" name="Oval 71"/>
          <p:cNvSpPr/>
          <p:nvPr/>
        </p:nvSpPr>
        <p:spPr>
          <a:xfrm>
            <a:off x="4361688" y="486460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5193792" y="49651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Oval 73"/>
          <p:cNvSpPr/>
          <p:nvPr/>
        </p:nvSpPr>
        <p:spPr>
          <a:xfrm>
            <a:off x="5925312" y="49651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Oval 74"/>
          <p:cNvSpPr/>
          <p:nvPr/>
        </p:nvSpPr>
        <p:spPr>
          <a:xfrm>
            <a:off x="6656832" y="49651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Oval 75"/>
          <p:cNvSpPr/>
          <p:nvPr/>
        </p:nvSpPr>
        <p:spPr>
          <a:xfrm>
            <a:off x="7388352" y="49651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8119872" y="49651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8851392" y="49651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9482328" y="486460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Oval 79"/>
          <p:cNvSpPr/>
          <p:nvPr/>
        </p:nvSpPr>
        <p:spPr>
          <a:xfrm>
            <a:off x="10314432" y="4965192"/>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10945368" y="486460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548640" y="5303520"/>
            <a:ext cx="3474720" cy="548640"/>
          </a:xfrm>
          <a:prstGeom prst="rect">
            <a:avLst/>
          </a:prstGeom>
          <a:noFill/>
        </p:spPr>
        <p:txBody>
          <a:bodyPr wrap="square" anchor="ctr" lIns="0" rIns="0" tIns="0" bIns="0">
            <a:spAutoFit/>
          </a:bodyPr>
          <a:lstStyle/>
          <a:p>
            <a:pPr algn="l">
              <a:spcAft>
                <a:spcPts val="0"/>
              </a:spcAft>
            </a:pPr>
            <a:r>
              <a:rPr sz="1400" b="1" i="0">
                <a:solidFill>
                  <a:srgbClr val="C98A1E"/>
                </a:solidFill>
                <a:latin typeface="Calibri"/>
              </a:rPr>
              <a:t>7  Does the organization learn?</a:t>
            </a:r>
          </a:p>
        </p:txBody>
      </p:sp>
      <p:sp>
        <p:nvSpPr>
          <p:cNvPr id="83" name="Oval 82"/>
          <p:cNvSpPr/>
          <p:nvPr/>
        </p:nvSpPr>
        <p:spPr>
          <a:xfrm>
            <a:off x="4361688" y="541324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5193792" y="5513831"/>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5925312" y="5513831"/>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6656832" y="5513831"/>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7388352" y="5513831"/>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8119872" y="5513831"/>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8750808" y="541324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Oval 89"/>
          <p:cNvSpPr/>
          <p:nvPr/>
        </p:nvSpPr>
        <p:spPr>
          <a:xfrm>
            <a:off x="9582912" y="5513831"/>
            <a:ext cx="128016" cy="128016"/>
          </a:xfrm>
          <a:prstGeom prst="ellipse">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10213848" y="541324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Oval 91"/>
          <p:cNvSpPr/>
          <p:nvPr/>
        </p:nvSpPr>
        <p:spPr>
          <a:xfrm>
            <a:off x="10945368" y="5413248"/>
            <a:ext cx="329184" cy="329184"/>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548640" y="6035040"/>
            <a:ext cx="11064240" cy="411480"/>
          </a:xfrm>
          <a:prstGeom prst="rect">
            <a:avLst/>
          </a:prstGeom>
          <a:noFill/>
        </p:spPr>
        <p:txBody>
          <a:bodyPr wrap="square" anchor="t" lIns="0" rIns="0" tIns="0" bIns="0">
            <a:spAutoFit/>
          </a:bodyPr>
          <a:lstStyle/>
          <a:p>
            <a:pPr algn="l">
              <a:spcAft>
                <a:spcPts val="0"/>
              </a:spcAft>
            </a:pPr>
            <a:r>
              <a:rPr sz="1300" b="0" i="1">
                <a:solidFill>
                  <a:srgbClr val="5B6B70"/>
                </a:solidFill>
                <a:latin typeface="Calibri"/>
              </a:rPr>
              <a:t>Large dots mark each week's primary JKD questions.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anchor="t" lIns="0" rIns="0" tIns="0" bIns="0">
            <a:spAutoFit/>
          </a:bodyPr>
          <a:lstStyle/>
          <a:p>
            <a:pPr algn="l">
              <a:spcAft>
                <a:spcPts val="0"/>
              </a:spcAft>
            </a:pPr>
            <a:r>
              <a:rPr sz="1100" b="1" i="0">
                <a:solidFill>
                  <a:srgbClr val="2E8B7A"/>
                </a:solidFill>
                <a:latin typeface="Calibri"/>
              </a:rPr>
              <a:t>PART IV · THE JKD FRAMEWORK</a:t>
            </a:r>
          </a:p>
        </p:txBody>
      </p:sp>
      <p:sp>
        <p:nvSpPr>
          <p:cNvPr id="3" name="TextBox 2"/>
          <p:cNvSpPr txBox="1"/>
          <p:nvPr/>
        </p:nvSpPr>
        <p:spPr>
          <a:xfrm>
            <a:off x="548640" y="658368"/>
            <a:ext cx="10241280" cy="822960"/>
          </a:xfrm>
          <a:prstGeom prst="rect">
            <a:avLst/>
          </a:prstGeom>
          <a:noFill/>
        </p:spPr>
        <p:txBody>
          <a:bodyPr wrap="square" anchor="t" lIns="0" rIns="0" tIns="0" bIns="0">
            <a:spAutoFit/>
          </a:bodyPr>
          <a:lstStyle/>
          <a:p>
            <a:pPr algn="l">
              <a:spcAft>
                <a:spcPts val="0"/>
              </a:spcAft>
            </a:pPr>
            <a:r>
              <a:rPr sz="3200" b="1" i="0">
                <a:solidFill>
                  <a:srgbClr val="1F2A2E"/>
                </a:solidFill>
                <a:latin typeface="Cambria"/>
              </a:rPr>
              <a:t>The OB Theory Update</a:t>
            </a:r>
          </a:p>
        </p:txBody>
      </p:sp>
      <p:sp>
        <p:nvSpPr>
          <p:cNvPr id="4" name="Oval 3"/>
          <p:cNvSpPr/>
          <p:nvPr/>
        </p:nvSpPr>
        <p:spPr>
          <a:xfrm>
            <a:off x="11018520" y="502920"/>
            <a:ext cx="384048" cy="384048"/>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256629" y="502920"/>
            <a:ext cx="384048" cy="384048"/>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48640" y="1691640"/>
            <a:ext cx="11064240" cy="1234440"/>
          </a:xfrm>
          <a:prstGeom prst="roundRect">
            <a:avLst>
              <a:gd name="adj" fmla="val 8000"/>
            </a:avLst>
          </a:prstGeom>
          <a:solidFill>
            <a:srgbClr val="1F2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783080"/>
            <a:ext cx="10424160" cy="1051560"/>
          </a:xfrm>
          <a:prstGeom prst="rect">
            <a:avLst/>
          </a:prstGeom>
          <a:noFill/>
        </p:spPr>
        <p:txBody>
          <a:bodyPr wrap="square" anchor="ctr" lIns="0" rIns="0" tIns="0" bIns="0">
            <a:spAutoFit/>
          </a:bodyPr>
          <a:lstStyle/>
          <a:p>
            <a:pPr algn="l">
              <a:spcAft>
                <a:spcPts val="0"/>
              </a:spcAft>
            </a:pPr>
            <a:r>
              <a:rPr sz="1900" b="0" i="1">
                <a:solidFill>
                  <a:srgbClr val="FFFFFF"/>
                </a:solidFill>
                <a:latin typeface="Calibri"/>
              </a:rPr>
              <a:t>“If [this week's classic theory] were rewritten for workplaces where people and AI build knowledge and make decisions together, I would change… because [evidence].”</a:t>
            </a:r>
          </a:p>
        </p:txBody>
      </p:sp>
      <p:sp>
        <p:nvSpPr>
          <p:cNvPr id="8" name="Rounded Rectangle 7"/>
          <p:cNvSpPr/>
          <p:nvPr/>
        </p:nvSpPr>
        <p:spPr>
          <a:xfrm>
            <a:off x="548640" y="3200400"/>
            <a:ext cx="3931920" cy="28803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3383280"/>
            <a:ext cx="3291840" cy="365760"/>
          </a:xfrm>
          <a:prstGeom prst="rect">
            <a:avLst/>
          </a:prstGeom>
          <a:noFill/>
        </p:spPr>
        <p:txBody>
          <a:bodyPr wrap="square" anchor="t" lIns="0" rIns="0" tIns="0" bIns="0">
            <a:spAutoFit/>
          </a:bodyPr>
          <a:lstStyle/>
          <a:p>
            <a:pPr algn="l">
              <a:spcAft>
                <a:spcPts val="0"/>
              </a:spcAft>
            </a:pPr>
            <a:r>
              <a:rPr sz="1400" b="1" i="0">
                <a:solidFill>
                  <a:srgbClr val="D9694A"/>
                </a:solidFill>
                <a:latin typeface="Calibri"/>
              </a:rPr>
              <a:t>WEAK</a:t>
            </a:r>
          </a:p>
        </p:txBody>
      </p:sp>
      <p:sp>
        <p:nvSpPr>
          <p:cNvPr id="10" name="TextBox 9"/>
          <p:cNvSpPr txBox="1"/>
          <p:nvPr/>
        </p:nvSpPr>
        <p:spPr>
          <a:xfrm>
            <a:off x="868680" y="3840480"/>
            <a:ext cx="3291840" cy="2103120"/>
          </a:xfrm>
          <a:prstGeom prst="rect">
            <a:avLst/>
          </a:prstGeom>
          <a:noFill/>
        </p:spPr>
        <p:txBody>
          <a:bodyPr wrap="square" anchor="t" lIns="0" rIns="0" tIns="0" bIns="0">
            <a:spAutoFit/>
          </a:bodyPr>
          <a:lstStyle/>
          <a:p>
            <a:pPr algn="l">
              <a:spcAft>
                <a:spcPts val="0"/>
              </a:spcAft>
            </a:pPr>
            <a:r>
              <a:rPr sz="1700" b="0" i="1">
                <a:solidFill>
                  <a:srgbClr val="1F2A2E"/>
                </a:solidFill>
                <a:latin typeface="Calibri"/>
              </a:rPr>
              <a:t>“Trust theory needs to change because people trust AI differently.”</a:t>
            </a:r>
          </a:p>
        </p:txBody>
      </p:sp>
      <p:sp>
        <p:nvSpPr>
          <p:cNvPr id="11" name="Rounded Rectangle 10"/>
          <p:cNvSpPr/>
          <p:nvPr/>
        </p:nvSpPr>
        <p:spPr>
          <a:xfrm>
            <a:off x="4754880" y="3200400"/>
            <a:ext cx="6858000" cy="2880360"/>
          </a:xfrm>
          <a:prstGeom prst="roundRect">
            <a:avLst>
              <a:gd name="adj" fmla="val 6000"/>
            </a:avLst>
          </a:prstGeom>
          <a:solidFill>
            <a:srgbClr val="EE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074920" y="3383280"/>
            <a:ext cx="6217920" cy="365760"/>
          </a:xfrm>
          <a:prstGeom prst="rect">
            <a:avLst/>
          </a:prstGeom>
          <a:noFill/>
        </p:spPr>
        <p:txBody>
          <a:bodyPr wrap="square" anchor="t" lIns="0" rIns="0" tIns="0" bIns="0">
            <a:spAutoFit/>
          </a:bodyPr>
          <a:lstStyle/>
          <a:p>
            <a:pPr algn="l">
              <a:spcAft>
                <a:spcPts val="0"/>
              </a:spcAft>
            </a:pPr>
            <a:r>
              <a:rPr sz="1400" b="1" i="0">
                <a:solidFill>
                  <a:srgbClr val="2E8B7A"/>
                </a:solidFill>
                <a:latin typeface="Calibri"/>
              </a:rPr>
              <a:t>STRONG</a:t>
            </a:r>
          </a:p>
        </p:txBody>
      </p:sp>
      <p:sp>
        <p:nvSpPr>
          <p:cNvPr id="13" name="TextBox 12"/>
          <p:cNvSpPr txBox="1"/>
          <p:nvPr/>
        </p:nvSpPr>
        <p:spPr>
          <a:xfrm>
            <a:off x="5074920" y="3794760"/>
            <a:ext cx="6217920" cy="2194560"/>
          </a:xfrm>
          <a:prstGeom prst="rect">
            <a:avLst/>
          </a:prstGeom>
          <a:noFill/>
        </p:spPr>
        <p:txBody>
          <a:bodyPr wrap="square" anchor="t" lIns="0" rIns="0" tIns="0" bIns="0">
            <a:spAutoFit/>
          </a:bodyPr>
          <a:lstStyle/>
          <a:p>
            <a:pPr algn="l">
              <a:spcAft>
                <a:spcPts val="0"/>
              </a:spcAft>
            </a:pPr>
            <a:r>
              <a:rPr sz="1500" b="0" i="1">
                <a:solidFill>
                  <a:srgbClr val="1F2A2E"/>
                </a:solidFill>
                <a:latin typeface="Calibri"/>
              </a:rPr>
              <a:t>“Mayer, Davis, and Schoorman define trust through ability, benevolence, and integrity, assuming the trustee has intentions. Vuori et al. (2025) show emotional trust in AI still shapes use. I would replace benevolence with ‘perceived alignment’ — the belief the system was designed in the user's interest.”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2A2E"/>
        </a:solidFill>
        <a:effectLst/>
      </p:bgPr>
    </p:bg>
    <p:spTree>
      <p:nvGrpSpPr>
        <p:cNvPr id="1" name=""/>
        <p:cNvGrpSpPr/>
        <p:nvPr/>
      </p:nvGrpSpPr>
      <p:grpSpPr/>
      <p:sp>
        <p:nvSpPr>
          <p:cNvPr id="2" name="Oval 1"/>
          <p:cNvSpPr/>
          <p:nvPr/>
        </p:nvSpPr>
        <p:spPr>
          <a:xfrm>
            <a:off x="731520" y="822960"/>
            <a:ext cx="731520" cy="731520"/>
          </a:xfrm>
          <a:prstGeom prst="ellipse">
            <a:avLst/>
          </a:prstGeom>
          <a:solidFill>
            <a:srgbClr val="D9694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85062" y="822960"/>
            <a:ext cx="731520" cy="731520"/>
          </a:xfrm>
          <a:prstGeom prst="ellipse">
            <a:avLst/>
          </a:prstGeom>
          <a:solidFill>
            <a:srgbClr val="2E8B7A">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5486400" cy="2377440"/>
          </a:xfrm>
          <a:prstGeom prst="rect">
            <a:avLst/>
          </a:prstGeom>
          <a:noFill/>
        </p:spPr>
        <p:txBody>
          <a:bodyPr wrap="square" anchor="t" lIns="0" rIns="0" tIns="0" bIns="0">
            <a:spAutoFit/>
          </a:bodyPr>
          <a:lstStyle/>
          <a:p>
            <a:pPr algn="l">
              <a:spcAft>
                <a:spcPts val="0"/>
              </a:spcAft>
            </a:pPr>
            <a:r>
              <a:rPr sz="3200" b="1" i="0">
                <a:solidFill>
                  <a:srgbClr val="FFFFFF"/>
                </a:solidFill>
                <a:latin typeface="Cambria"/>
              </a:rPr>
              <a:t>Seven questions to ask of any workplace where people and AI work together</a:t>
            </a:r>
          </a:p>
        </p:txBody>
      </p:sp>
      <p:sp>
        <p:nvSpPr>
          <p:cNvPr id="5" name="TextBox 4"/>
          <p:cNvSpPr txBox="1"/>
          <p:nvPr/>
        </p:nvSpPr>
        <p:spPr>
          <a:xfrm>
            <a:off x="731520" y="4754880"/>
            <a:ext cx="5303520" cy="1097280"/>
          </a:xfrm>
          <a:prstGeom prst="rect">
            <a:avLst/>
          </a:prstGeom>
          <a:noFill/>
        </p:spPr>
        <p:txBody>
          <a:bodyPr wrap="square" anchor="t" lIns="0" rIns="0" tIns="0" bIns="0">
            <a:spAutoFit/>
          </a:bodyPr>
          <a:lstStyle/>
          <a:p>
            <a:pPr algn="l">
              <a:spcAft>
                <a:spcPts val="0"/>
              </a:spcAft>
            </a:pPr>
            <a:r>
              <a:rPr sz="2000" b="0" i="1">
                <a:solidFill>
                  <a:srgbClr val="A8D5CB"/>
                </a:solidFill>
                <a:latin typeface="Calibri"/>
              </a:rPr>
              <a:t>Humans and AI — knowing and deciding together.</a:t>
            </a:r>
          </a:p>
        </p:txBody>
      </p:sp>
      <p:sp>
        <p:nvSpPr>
          <p:cNvPr id="6" name="Oval 5"/>
          <p:cNvSpPr/>
          <p:nvPr/>
        </p:nvSpPr>
        <p:spPr>
          <a:xfrm>
            <a:off x="6766560" y="822960"/>
            <a:ext cx="502920" cy="50292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7498079" y="822960"/>
            <a:ext cx="4206240" cy="502920"/>
          </a:xfrm>
          <a:prstGeom prst="rect">
            <a:avLst/>
          </a:prstGeom>
          <a:noFill/>
        </p:spPr>
        <p:txBody>
          <a:bodyPr wrap="square" anchor="ctr" lIns="0" rIns="0" tIns="0" bIns="0">
            <a:spAutoFit/>
          </a:bodyPr>
          <a:lstStyle/>
          <a:p>
            <a:pPr algn="l">
              <a:spcAft>
                <a:spcPts val="0"/>
              </a:spcAft>
            </a:pPr>
            <a:r>
              <a:rPr sz="2000" b="0" i="0">
                <a:solidFill>
                  <a:srgbClr val="FFFFFF"/>
                </a:solidFill>
                <a:latin typeface="Calibri"/>
              </a:rPr>
              <a:t>Who knows?</a:t>
            </a:r>
          </a:p>
        </p:txBody>
      </p:sp>
      <p:sp>
        <p:nvSpPr>
          <p:cNvPr id="8" name="Oval 7"/>
          <p:cNvSpPr/>
          <p:nvPr/>
        </p:nvSpPr>
        <p:spPr>
          <a:xfrm>
            <a:off x="6766560" y="1600200"/>
            <a:ext cx="502920" cy="502920"/>
          </a:xfrm>
          <a:prstGeom prst="ellipse">
            <a:avLst/>
          </a:prstGeom>
          <a:solidFill>
            <a:srgbClr val="2E8B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TextBox 8"/>
          <p:cNvSpPr txBox="1"/>
          <p:nvPr/>
        </p:nvSpPr>
        <p:spPr>
          <a:xfrm>
            <a:off x="7498079" y="1600200"/>
            <a:ext cx="4206240" cy="502920"/>
          </a:xfrm>
          <a:prstGeom prst="rect">
            <a:avLst/>
          </a:prstGeom>
          <a:noFill/>
        </p:spPr>
        <p:txBody>
          <a:bodyPr wrap="square" anchor="ctr" lIns="0" rIns="0" tIns="0" bIns="0">
            <a:spAutoFit/>
          </a:bodyPr>
          <a:lstStyle/>
          <a:p>
            <a:pPr algn="l">
              <a:spcAft>
                <a:spcPts val="0"/>
              </a:spcAft>
            </a:pPr>
            <a:r>
              <a:rPr sz="2000" b="0" i="0">
                <a:solidFill>
                  <a:srgbClr val="FFFFFF"/>
                </a:solidFill>
                <a:latin typeface="Calibri"/>
              </a:rPr>
              <a:t>How is knowledge built?</a:t>
            </a:r>
          </a:p>
        </p:txBody>
      </p:sp>
      <p:sp>
        <p:nvSpPr>
          <p:cNvPr id="10" name="Oval 9"/>
          <p:cNvSpPr/>
          <p:nvPr/>
        </p:nvSpPr>
        <p:spPr>
          <a:xfrm>
            <a:off x="6766560" y="2377440"/>
            <a:ext cx="502920" cy="50292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1" name="TextBox 10"/>
          <p:cNvSpPr txBox="1"/>
          <p:nvPr/>
        </p:nvSpPr>
        <p:spPr>
          <a:xfrm>
            <a:off x="7498079" y="2377440"/>
            <a:ext cx="4206240" cy="502920"/>
          </a:xfrm>
          <a:prstGeom prst="rect">
            <a:avLst/>
          </a:prstGeom>
          <a:noFill/>
        </p:spPr>
        <p:txBody>
          <a:bodyPr wrap="square" anchor="ctr" lIns="0" rIns="0" tIns="0" bIns="0">
            <a:spAutoFit/>
          </a:bodyPr>
          <a:lstStyle/>
          <a:p>
            <a:pPr algn="l">
              <a:spcAft>
                <a:spcPts val="0"/>
              </a:spcAft>
            </a:pPr>
            <a:r>
              <a:rPr sz="2000" b="0" i="0">
                <a:solidFill>
                  <a:srgbClr val="FFFFFF"/>
                </a:solidFill>
                <a:latin typeface="Calibri"/>
              </a:rPr>
              <a:t>Who decides?</a:t>
            </a:r>
          </a:p>
        </p:txBody>
      </p:sp>
      <p:sp>
        <p:nvSpPr>
          <p:cNvPr id="12" name="Oval 11"/>
          <p:cNvSpPr/>
          <p:nvPr/>
        </p:nvSpPr>
        <p:spPr>
          <a:xfrm>
            <a:off x="6766560" y="3154679"/>
            <a:ext cx="502920" cy="502920"/>
          </a:xfrm>
          <a:prstGeom prst="ellipse">
            <a:avLst/>
          </a:prstGeom>
          <a:solidFill>
            <a:srgbClr val="D969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3" name="TextBox 12"/>
          <p:cNvSpPr txBox="1"/>
          <p:nvPr/>
        </p:nvSpPr>
        <p:spPr>
          <a:xfrm>
            <a:off x="7498079" y="3154679"/>
            <a:ext cx="4206240" cy="502920"/>
          </a:xfrm>
          <a:prstGeom prst="rect">
            <a:avLst/>
          </a:prstGeom>
          <a:noFill/>
        </p:spPr>
        <p:txBody>
          <a:bodyPr wrap="square" anchor="ctr" lIns="0" rIns="0" tIns="0" bIns="0">
            <a:spAutoFit/>
          </a:bodyPr>
          <a:lstStyle/>
          <a:p>
            <a:pPr algn="l">
              <a:spcAft>
                <a:spcPts val="0"/>
              </a:spcAft>
            </a:pPr>
            <a:r>
              <a:rPr sz="2000" b="0" i="0">
                <a:solidFill>
                  <a:srgbClr val="FFFFFF"/>
                </a:solidFill>
                <a:latin typeface="Calibri"/>
              </a:rPr>
              <a:t>Who is accountable?</a:t>
            </a:r>
          </a:p>
        </p:txBody>
      </p:sp>
      <p:sp>
        <p:nvSpPr>
          <p:cNvPr id="14" name="Oval 13"/>
          <p:cNvSpPr/>
          <p:nvPr/>
        </p:nvSpPr>
        <p:spPr>
          <a:xfrm>
            <a:off x="6766560" y="3931920"/>
            <a:ext cx="502920" cy="50292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5" name="TextBox 14"/>
          <p:cNvSpPr txBox="1"/>
          <p:nvPr/>
        </p:nvSpPr>
        <p:spPr>
          <a:xfrm>
            <a:off x="7498079" y="3931920"/>
            <a:ext cx="4206240" cy="502920"/>
          </a:xfrm>
          <a:prstGeom prst="rect">
            <a:avLst/>
          </a:prstGeom>
          <a:noFill/>
        </p:spPr>
        <p:txBody>
          <a:bodyPr wrap="square" anchor="ctr" lIns="0" rIns="0" tIns="0" bIns="0">
            <a:spAutoFit/>
          </a:bodyPr>
          <a:lstStyle/>
          <a:p>
            <a:pPr algn="l">
              <a:spcAft>
                <a:spcPts val="0"/>
              </a:spcAft>
            </a:pPr>
            <a:r>
              <a:rPr sz="2000" b="0" i="0">
                <a:solidFill>
                  <a:srgbClr val="FFFFFF"/>
                </a:solidFill>
                <a:latin typeface="Calibri"/>
              </a:rPr>
              <a:t>How do people experience it?</a:t>
            </a:r>
          </a:p>
        </p:txBody>
      </p:sp>
      <p:sp>
        <p:nvSpPr>
          <p:cNvPr id="16" name="Oval 15"/>
          <p:cNvSpPr/>
          <p:nvPr/>
        </p:nvSpPr>
        <p:spPr>
          <a:xfrm>
            <a:off x="6766560" y="4709160"/>
            <a:ext cx="502920" cy="50292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17" name="TextBox 16"/>
          <p:cNvSpPr txBox="1"/>
          <p:nvPr/>
        </p:nvSpPr>
        <p:spPr>
          <a:xfrm>
            <a:off x="7498079" y="4709160"/>
            <a:ext cx="4206240" cy="502920"/>
          </a:xfrm>
          <a:prstGeom prst="rect">
            <a:avLst/>
          </a:prstGeom>
          <a:noFill/>
        </p:spPr>
        <p:txBody>
          <a:bodyPr wrap="square" anchor="ctr" lIns="0" rIns="0" tIns="0" bIns="0">
            <a:spAutoFit/>
          </a:bodyPr>
          <a:lstStyle/>
          <a:p>
            <a:pPr algn="l">
              <a:spcAft>
                <a:spcPts val="0"/>
              </a:spcAft>
            </a:pPr>
            <a:r>
              <a:rPr sz="2000" b="0" i="0">
                <a:solidFill>
                  <a:srgbClr val="FFFFFF"/>
                </a:solidFill>
                <a:latin typeface="Calibri"/>
              </a:rPr>
              <a:t>Is it fair?</a:t>
            </a:r>
          </a:p>
        </p:txBody>
      </p:sp>
      <p:sp>
        <p:nvSpPr>
          <p:cNvPr id="18" name="Oval 17"/>
          <p:cNvSpPr/>
          <p:nvPr/>
        </p:nvSpPr>
        <p:spPr>
          <a:xfrm>
            <a:off x="6766560" y="5486400"/>
            <a:ext cx="502920" cy="50292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19" name="TextBox 18"/>
          <p:cNvSpPr txBox="1"/>
          <p:nvPr/>
        </p:nvSpPr>
        <p:spPr>
          <a:xfrm>
            <a:off x="7498079" y="5486400"/>
            <a:ext cx="4206240" cy="502920"/>
          </a:xfrm>
          <a:prstGeom prst="rect">
            <a:avLst/>
          </a:prstGeom>
          <a:noFill/>
        </p:spPr>
        <p:txBody>
          <a:bodyPr wrap="square" anchor="ctr" lIns="0" rIns="0" tIns="0" bIns="0">
            <a:spAutoFit/>
          </a:bodyPr>
          <a:lstStyle/>
          <a:p>
            <a:pPr algn="l">
              <a:spcAft>
                <a:spcPts val="0"/>
              </a:spcAft>
            </a:pPr>
            <a:r>
              <a:rPr sz="2000" b="0" i="0">
                <a:solidFill>
                  <a:srgbClr val="FFFFFF"/>
                </a:solidFill>
                <a:latin typeface="Calibri"/>
              </a:rPr>
              <a:t>Does the organization learn?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